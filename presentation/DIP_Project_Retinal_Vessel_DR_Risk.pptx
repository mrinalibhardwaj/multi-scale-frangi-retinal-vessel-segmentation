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2aee10-9df9-3228-eb05-4c28e29817c7}">
          <p14:sldIdLst>
            <p14:sldId id="256"/>
            <p14:sldId id="257"/>
            <p14:sldId id="258"/>
            <p14:sldId id="259"/>
          </p14:sldIdLst>
        </p14:section>
        <p14:section name="Methodology" id="{b618b9da-74fb-278f-72bd-fcbc7e41185e}">
          <p14:sldIdLst>
            <p14:sldId id="260"/>
            <p14:sldId id="261"/>
            <p14:sldId id="262"/>
            <p14:sldId id="263"/>
            <p14:sldId id="264"/>
          </p14:sldIdLst>
        </p14:section>
        <p14:section name="Results" id="{4b5e863c-f5b3-287f-73d3-33aaa54ed7a7}">
          <p14:sldIdLst>
            <p14:sldId id="265"/>
            <p14:sldId id="266"/>
            <p14:sldId id="267"/>
            <p14:sldId id="268"/>
            <p14:sldId id="269"/>
            <p14:sldId id="270"/>
            <p14:sldId id="271"/>
          </p14:sldIdLst>
        </p14:section>
        <p14:section name="Conclusion" id="{e9da39bf-021f-9b49-e6e7-9e388464805d}">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j-lt"/>
              </a:defRPr>
            </a:pPr>
            <a:r>
              <a:rPr sz="1400" b="0" i="0" u="none" strike="noStrike">
                <a:solidFill>
                  <a:srgbClr val="14213D"/>
                </a:solidFill>
                <a:latin typeface="+mj-lt"/>
              </a:rPr>
              <a:t>Fixed clinical weights (sum = 1)</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E2583E"/>
            </a:solidFill>
            <a:effectLst/>
          </c:spPr>
          <c:invertIfNegative val="0"/>
          <c:dLbls>
            <c:numFmt formatCode="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Sheet1!$A$2:$A$7</c:f>
              <c:multiLvlStrCache>
                <c:ptCount val="6"/>
                <c:lvl>
                  <c:pt idx="0">
                    <c:v>Tortuosity</c:v>
                  </c:pt>
                  <c:pt idx="1">
                    <c:v>GLCM contrast</c:v>
                  </c:pt>
                  <c:pt idx="2">
                    <c:v>Branch points</c:v>
                  </c:pt>
                  <c:pt idx="3">
                    <c:v>Vessel density (↓)</c:v>
                  </c:pt>
                  <c:pt idx="4">
                    <c:v>GLCM homogeneity (↓)</c:v>
                  </c:pt>
                  <c:pt idx="5">
                    <c:v>GLCM energy (↓)</c:v>
                  </c:pt>
                </c:lvl>
              </c:multiLvlStrCache>
            </c:multiLvlStrRef>
          </c:cat>
          <c:val>
            <c:numRef>
              <c:f>Sheet1!$B$2:$B$7</c:f>
              <c:numCache>
                <c:formatCode>General</c:formatCode>
                <c:ptCount val="6"/>
                <c:pt idx="0">
                  <c:v>0.25</c:v>
                </c:pt>
                <c:pt idx="1">
                  <c:v>0.25</c:v>
                </c:pt>
                <c:pt idx="2">
                  <c:v>0.15</c:v>
                </c:pt>
                <c:pt idx="3">
                  <c:v>0.15</c:v>
                </c:pt>
                <c:pt idx="4">
                  <c:v>0.1</c:v>
                </c:pt>
                <c:pt idx="5">
                  <c:v>0.1</c:v>
                </c:pt>
              </c:numCache>
            </c:numRef>
          </c:val>
        </c:ser>
        <c:dLbls>
          <c:numFmt formatCode="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0.3"/>
        </c:scaling>
        <c:delete val="0"/>
        <c:axPos val="b"/>
        <c:majorGridlines>
          <c:spPr>
            <a:ln w="6350" cap="flat">
              <a:solidFill>
                <a:srgbClr val="D9DEE7"/>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j-lt"/>
              </a:defRPr>
            </a:pPr>
            <a:r>
              <a:rPr sz="1400" b="0" i="0" u="none" strike="noStrike">
                <a:solidFill>
                  <a:srgbClr val="14213D"/>
                </a:solidFill>
                <a:latin typeface="+mj-lt"/>
              </a:rPr>
              <a:t>Test split (20 images): proposed vs baseline</a:t>
            </a:r>
          </a:p>
        </c:rich>
      </c:tx>
      <c:layout/>
      <c:overlay val="0"/>
    </c:title>
    <c:autoTitleDeleted val="0"/>
    <c:plotArea>
      <c:layout/>
      <c:barChart>
        <c:barDir val="col"/>
        <c:grouping val="clustered"/>
        <c:varyColors val="0"/>
        <c:ser>
          <c:idx val="0"/>
          <c:order val="0"/>
          <c:tx>
            <c:strRef>
              <c:f>Sheet1!$B$1</c:f>
              <c:strCache>
                <c:ptCount val="1"/>
                <c:pt idx="0">
                  <c:v>Proposed pipeline</c:v>
                </c:pt>
              </c:strCache>
            </c:strRef>
          </c:tx>
          <c:spPr>
            <a:solidFill>
              <a:srgbClr val="E2583E"/>
            </a:solidFill>
            <a:effectLst/>
          </c:spPr>
          <c:invertIfNegative val="0"/>
          <c:dLbls>
            <c:numFmt formatCode="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Sensitivity</c:v>
                  </c:pt>
                  <c:pt idx="1">
                    <c:v>Specificity</c:v>
                  </c:pt>
                  <c:pt idx="2">
                    <c:v>Accuracy</c:v>
                  </c:pt>
                  <c:pt idx="3">
                    <c:v>Dice</c:v>
                  </c:pt>
                  <c:pt idx="4">
                    <c:v>Jaccard</c:v>
                  </c:pt>
                </c:lvl>
              </c:multiLvlStrCache>
            </c:multiLvlStrRef>
          </c:cat>
          <c:val>
            <c:numRef>
              <c:f>Sheet1!$B$2:$B$6</c:f>
              <c:numCache>
                <c:formatCode>General</c:formatCode>
                <c:ptCount val="5"/>
                <c:pt idx="0">
                  <c:v>0.73</c:v>
                </c:pt>
                <c:pt idx="1">
                  <c:v>0.969</c:v>
                </c:pt>
                <c:pt idx="2">
                  <c:v>0.938</c:v>
                </c:pt>
                <c:pt idx="3">
                  <c:v>0.749</c:v>
                </c:pt>
                <c:pt idx="4">
                  <c:v>0.6</c:v>
                </c:pt>
              </c:numCache>
            </c:numRef>
          </c:val>
        </c:ser>
        <c:ser>
          <c:idx val="1"/>
          <c:order val="1"/>
          <c:tx>
            <c:strRef>
              <c:f>Sheet1!$C$1</c:f>
              <c:strCache>
                <c:ptCount val="1"/>
                <c:pt idx="0">
                  <c:v>Otsu on green (baseline)</c:v>
                </c:pt>
              </c:strCache>
            </c:strRef>
          </c:tx>
          <c:spPr>
            <a:solidFill>
              <a:srgbClr val="8D99AE"/>
            </a:solidFill>
            <a:effectLst/>
          </c:spPr>
          <c:invertIfNegative val="0"/>
          <c:dLbls>
            <c:numFmt formatCode="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Sensitivity</c:v>
                  </c:pt>
                  <c:pt idx="1">
                    <c:v>Specificity</c:v>
                  </c:pt>
                  <c:pt idx="2">
                    <c:v>Accuracy</c:v>
                  </c:pt>
                  <c:pt idx="3">
                    <c:v>Dice</c:v>
                  </c:pt>
                  <c:pt idx="4">
                    <c:v>Jaccard</c:v>
                  </c:pt>
                </c:lvl>
              </c:multiLvlStrCache>
            </c:multiLvlStrRef>
          </c:cat>
          <c:val>
            <c:numRef>
              <c:f>Sheet1!$C$2:$C$6</c:f>
              <c:numCache>
                <c:formatCode>General</c:formatCode>
                <c:ptCount val="5"/>
                <c:pt idx="0">
                  <c:v>0.635</c:v>
                </c:pt>
                <c:pt idx="1">
                  <c:v>0.468</c:v>
                </c:pt>
                <c:pt idx="2">
                  <c:v>0.492</c:v>
                </c:pt>
                <c:pt idx="3">
                  <c:v>0.199</c:v>
                </c:pt>
                <c:pt idx="4">
                  <c:v>0.116</c:v>
                </c:pt>
              </c:numCache>
            </c:numRef>
          </c:val>
        </c:ser>
        <c:dLbls>
          <c:numFmt formatCode="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4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j-lt"/>
              </a:defRPr>
            </a:pPr>
            <a:r>
              <a:rPr sz="1400" b="0" i="0" u="none" strike="noStrike">
                <a:solidFill>
                  <a:srgbClr val="14213D"/>
                </a:solidFill>
                <a:latin typeface="+mj-lt"/>
              </a:rPr>
              <a:t>Mean Dice, all 40 images, one module removed at a time</a:t>
            </a:r>
          </a:p>
        </c:rich>
      </c:tx>
      <c:layout/>
      <c:overlay val="0"/>
    </c:title>
    <c:autoTitleDeleted val="0"/>
    <c:plotArea>
      <c:layout/>
      <c:barChart>
        <c:barDir val="bar"/>
        <c:grouping val="clustered"/>
        <c:varyColors val="0"/>
        <c:ser>
          <c:idx val="0"/>
          <c:order val="0"/>
          <c:tx>
            <c:strRef>
              <c:f>Sheet1!$B$1</c:f>
              <c:strCache>
                <c:ptCount val="1"/>
                <c:pt idx="0">
                  <c:v>Mean Dice</c:v>
                </c:pt>
              </c:strCache>
            </c:strRef>
          </c:tx>
          <c:spPr>
            <a:solidFill>
              <a:srgbClr val="E2583E"/>
            </a:solidFill>
            <a:effectLst/>
          </c:spPr>
          <c:invertIfNegative val="0"/>
          <c:dLbls>
            <c:numFmt formatCode="0.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pipeline</c:v>
                  </c:pt>
                  <c:pt idx="1">
                    <c:v>Without CLAHE</c:v>
                  </c:pt>
                  <c:pt idx="2">
                    <c:v>Single-scale Frangi (σ=2)</c:v>
                  </c:pt>
                  <c:pt idx="3">
                    <c:v>Without restoration</c:v>
                  </c:pt>
                  <c:pt idx="4">
                    <c:v>Without DFT high-emphasis</c:v>
                  </c:pt>
                </c:lvl>
              </c:multiLvlStrCache>
            </c:multiLvlStrRef>
          </c:cat>
          <c:val>
            <c:numRef>
              <c:f>Sheet1!$B$2:$B$6</c:f>
              <c:numCache>
                <c:formatCode>General</c:formatCode>
                <c:ptCount val="5"/>
                <c:pt idx="0">
                  <c:v>0.7386</c:v>
                </c:pt>
                <c:pt idx="1">
                  <c:v>0.688</c:v>
                </c:pt>
                <c:pt idx="2">
                  <c:v>0.724</c:v>
                </c:pt>
                <c:pt idx="3">
                  <c:v>0.7326</c:v>
                </c:pt>
                <c:pt idx="4">
                  <c:v>0.7363</c:v>
                </c:pt>
              </c:numCache>
            </c:numRef>
          </c:val>
        </c:ser>
        <c:dLbls>
          <c:numFmt formatCode="0.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0.76"/>
          <c:min val="0.6"/>
        </c:scaling>
        <c:delete val="0"/>
        <c:axPos val="b"/>
        <c:majorGridlines>
          <c:spPr>
            <a:ln w="6350" cap="flat">
              <a:solidFill>
                <a:srgbClr val="D9DEE7"/>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j-lt"/>
              </a:defRPr>
            </a:pPr>
            <a:r>
              <a:rPr sz="1400" b="0" i="0" u="none" strike="noStrike">
                <a:solidFill>
                  <a:srgbClr val="14213D"/>
                </a:solidFill>
                <a:latin typeface="+mj-lt"/>
              </a:rPr>
              <a:t>wᵢ · fᵢ contributions → score 0.498 (Medium)</a:t>
            </a:r>
          </a:p>
        </c:rich>
      </c:tx>
      <c:layout/>
      <c:overlay val="0"/>
    </c:title>
    <c:autoTitleDeleted val="0"/>
    <c:plotArea>
      <c:layout/>
      <c:barChart>
        <c:barDir val="bar"/>
        <c:grouping val="clustered"/>
        <c:varyColors val="0"/>
        <c:ser>
          <c:idx val="0"/>
          <c:order val="0"/>
          <c:tx>
            <c:strRef>
              <c:f>Sheet1!$B$1</c:f>
              <c:strCache>
                <c:ptCount val="1"/>
                <c:pt idx="0">
                  <c:v>Contribution</c:v>
                </c:pt>
              </c:strCache>
            </c:strRef>
          </c:tx>
          <c:spPr>
            <a:solidFill>
              <a:srgbClr val="E2583E"/>
            </a:solidFill>
            <a:effectLst/>
          </c:spPr>
          <c:invertIfNegative val="0"/>
          <c:dLbls>
            <c:numFmt formatCode="0.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Sheet1!$A$2:$A$7</c:f>
              <c:multiLvlStrCache>
                <c:ptCount val="6"/>
                <c:lvl>
                  <c:pt idx="0">
                    <c:v>Tortuosity</c:v>
                  </c:pt>
                  <c:pt idx="1">
                    <c:v>Vessel density</c:v>
                  </c:pt>
                  <c:pt idx="2">
                    <c:v>GLCM contrast</c:v>
                  </c:pt>
                  <c:pt idx="3">
                    <c:v>GLCM energy</c:v>
                  </c:pt>
                  <c:pt idx="4">
                    <c:v>Branch points</c:v>
                  </c:pt>
                  <c:pt idx="5">
                    <c:v>GLCM homogeneity</c:v>
                  </c:pt>
                </c:lvl>
              </c:multiLvlStrCache>
            </c:multiLvlStrRef>
          </c:cat>
          <c:val>
            <c:numRef>
              <c:f>Sheet1!$B$2:$B$7</c:f>
              <c:numCache>
                <c:formatCode>General</c:formatCode>
                <c:ptCount val="6"/>
                <c:pt idx="0">
                  <c:v>0.25</c:v>
                </c:pt>
                <c:pt idx="1">
                  <c:v>0.108</c:v>
                </c:pt>
                <c:pt idx="2">
                  <c:v>0.044</c:v>
                </c:pt>
                <c:pt idx="3">
                  <c:v>0.037</c:v>
                </c:pt>
                <c:pt idx="4">
                  <c:v>0.032</c:v>
                </c:pt>
                <c:pt idx="5">
                  <c:v>0.027</c:v>
                </c:pt>
              </c:numCache>
            </c:numRef>
          </c:val>
        </c:ser>
        <c:dLbls>
          <c:numFmt formatCode="0.0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0.3"/>
        </c:scaling>
        <c:delete val="0"/>
        <c:axPos val="b"/>
        <c:majorGridlines>
          <c:spPr>
            <a:ln w="6350" cap="flat">
              <a:solidFill>
                <a:srgbClr val="D9DEE7"/>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j-lt"/>
              </a:defRPr>
            </a:pPr>
            <a:r>
              <a:rPr sz="1400" b="0" i="0" u="none" strike="noStrike">
                <a:solidFill>
                  <a:srgbClr val="14213D"/>
                </a:solidFill>
                <a:latin typeface="+mj-lt"/>
              </a:rPr>
              <a:t>Risk bands across 40 DRIVE images</a:t>
            </a:r>
          </a:p>
        </c:rich>
      </c:tx>
      <c:layout/>
      <c:overlay val="0"/>
    </c:title>
    <c:autoTitleDeleted val="0"/>
    <c:plotArea>
      <c:layout/>
      <c:barChart>
        <c:barDir val="col"/>
        <c:grouping val="clustered"/>
        <c:varyColors val="0"/>
        <c:ser>
          <c:idx val="0"/>
          <c:order val="0"/>
          <c:tx>
            <c:strRef>
              <c:f>Sheet1!$B$1</c:f>
              <c:strCache>
                <c:ptCount val="1"/>
                <c:pt idx="0">
                  <c:v>Images</c:v>
                </c:pt>
              </c:strCache>
            </c:strRef>
          </c:tx>
          <c:spPr>
            <a:solidFill>
              <a:srgbClr val="2A9D8F"/>
            </a:solidFill>
            <a:effectLst/>
          </c:spPr>
          <c:invertIfNegative val="0"/>
          <c:dLbls>
            <c:numFmt formatCode="#,##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F4A261"/>
              </a:solidFill>
              <a:effectLst/>
            </c:spPr>
          </c:dPt>
          <c:dPt>
            <c:idx val="2"/>
            <c:invertIfNegative val="0"/>
            <c:bubble3D val="0"/>
            <c:spPr>
              <a:solidFill>
                <a:srgbClr val="E2583E"/>
              </a:solidFill>
              <a:effectLst/>
            </c:spPr>
          </c:dPt>
          <c:cat>
            <c:multiLvlStrRef>
              <c:f>Sheet1!$A$2:$A$4</c:f>
              <c:multiLvlStrCache>
                <c:ptCount val="3"/>
                <c:lvl>
                  <c:pt idx="0">
                    <c:v>Low</c:v>
                  </c:pt>
                  <c:pt idx="1">
                    <c:v>Medium</c:v>
                  </c:pt>
                  <c:pt idx="2">
                    <c:v>High</c:v>
                  </c:pt>
                </c:lvl>
              </c:multiLvlStrCache>
            </c:multiLvlStrRef>
          </c:cat>
          <c:val>
            <c:numRef>
              <c:f>Sheet1!$B$2:$B$4</c:f>
              <c:numCache>
                <c:formatCode>General</c:formatCode>
                <c:ptCount val="3"/>
                <c:pt idx="0">
                  <c:v>7</c:v>
                </c:pt>
                <c:pt idx="1">
                  <c:v>27</c:v>
                </c:pt>
                <c:pt idx="2">
                  <c:v>6</c:v>
                </c:pt>
              </c:numCache>
            </c:numRef>
          </c:val>
        </c:ser>
        <c:dLbls>
          <c:numFmt formatCode="#,##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30"/>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title. One-line pitch: we take a colour photo of the back of the eye, extract the blood vessel tree with classical image processing, and turn measurable properties of that tree into an explainable diabetic retinopathy risk score — with no training data and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Diabetic retinopathy is a leading cause of blindness in working-age adults. Damage shows up early in the vessel tree. In India most screening happens in camps with no specialist and no GPU, so we want something cheap, CPU-only and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objective, then the four contributions. Emphasise the last one: every term of the score can be checked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families from the literature survey. The key gap: nothing unsupervised goes beyond the mask to a clinical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block diagram from Review I, implemented exactly as modules. Stage A cleans the image, B extracts and thins the tree, C measures it, D fuses and validates.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each step changes the image. Green channel has the most contrast. CLAHE is local so the optic disc is not over-amplified. The frequency-domain high-emphasis filter keeps half the low frequencies and boosts the high ones. Restoration treats illumination as a multiplicative degradation and divides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eigenvalue intuition: along a vessel the curvature is small, across it is large, so λ1 small and λ2 large. Rb distinguishes lines from blobs, S suppresses flat background. The filter is hand-written in our code and cross-checked against scikit-image.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structural features from the skeleton and three Haralick texture features from the tissue around the vessels. We mask the vessels out (plus a 2-pixel margin) so texture describes the retina, not the vessels.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Tortuosity and GLCM contrast get the highest weights, following the clinical literature (Cheung et al. 2010). Homogeneity, energy and density enter inverted because lower values indicate disease. We use percentile instead of strict min-max scaling so one badly segmented outlier image doesn't compress everyone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is the standard benchmark. Even though the method has no learned weights, we still tuned the few filter constants on training images only, so the test numbers are a fair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Otsu on the green channel cannot separate vessels from the uneven background — it labels half the retina as vessel. Our pipeline reaches Dice 0.749 on the test split, with specificity close to 0.97.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 the same band as the classical unsupervised methods. Deep networks reach about 0.82 Dice but need labelled data and a GPU — that is not what we compare against. The overlay shows most misses are the faintest capillaries.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CLAHE costs five Dice points. Multi-scale Frangi beats any single scale. Restoration and the frequency filter give smaller but consistent improvements — honest result, they are refinements on top of CLAHE.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explainability in action. The score is not a black box: it decomposes into six bars, and the overlay shows exactly which structures drove each bar. In this early-DR image the exudate rings register as very tortuous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Bands spread across all three levels. DRIVE has no DR grades, only seven images flagged with mild early DR — those score higher on average; with only seven positives the difference is a trend (p = 0.079), not proof. The score is stable under JPEG compression and under weight perturbation.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switch to the live app here: show 01_test, then 08_test, and move the Frangi c slider to show its effect on the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DRIVE has no DR grades, so the score is checked, not clinically validated. The natural next step is a graded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sentence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680960" cy="21031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3657600"/>
            <a:ext cx="7680960" cy="73152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DIP (BCSE403L)  |  Retinal vessel segmentation &amp; explainable DR risk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474720"/>
            <a:ext cx="10881360" cy="73152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680960" cy="2103120"/>
          </a:xfrm>
          <a:prstGeom prst="rect">
            <a:avLst/>
          </a:prstGeom>
          <a:noFill/>
          <a:ln/>
        </p:spPr>
        <p:txBody>
          <a:bodyPr wrap="square" rtlCol="0" anchor="b"/>
          <a:lstStyle/>
          <a:p>
            <a:pPr algn="l" indent="0" marL="0">
              <a:buNone/>
            </a:pPr>
            <a:r>
              <a:rPr lang="en-US" sz="3400" b="1" dirty="0">
                <a:solidFill>
                  <a:schemeClr val="bg1"/>
                </a:solidFill>
              </a:rPr>
              <a:t>Multi-Scale Frangi Vesselness Segmentation of Retinal Blood Vessels for Explainable Diabetic Retinopathy Risk Stratification</a:t>
            </a:r>
            <a:endParaRPr lang="en-US" sz="3400" dirty="0"/>
          </a:p>
        </p:txBody>
      </p:sp>
      <p:sp>
        <p:nvSpPr>
          <p:cNvPr id="3" name="Text 0"/>
          <p:cNvSpPr/>
          <p:nvPr>
            <p:ph idx="101" type="body" hasCustomPrompt="1"/>
          </p:nvPr>
        </p:nvSpPr>
        <p:spPr>
          <a:xfrm>
            <a:off x="640080" y="3657600"/>
            <a:ext cx="7680960" cy="731520"/>
          </a:xfrm>
          <a:prstGeom prst="rect">
            <a:avLst/>
          </a:prstGeom>
          <a:noFill/>
          <a:ln/>
        </p:spPr>
        <p:txBody>
          <a:bodyPr wrap="square" rtlCol="0"/>
          <a:lstStyle/>
          <a:p>
            <a:pPr indent="0" marL="0">
              <a:buNone/>
            </a:pPr>
            <a:r>
              <a:rPr lang="en-US" sz="1600" dirty="0">
                <a:solidFill>
                  <a:schemeClr val="accent2"/>
                </a:solidFill>
              </a:rPr>
              <a:t>Digital Image Processing (BCSE403L)  ·  Fall 2026–27  ·  Faculty: Dr. Anisha M. Lal</a:t>
            </a:r>
            <a:endParaRPr lang="en-US" sz="1600" dirty="0"/>
          </a:p>
        </p:txBody>
      </p:sp>
      <p:pic>
        <p:nvPicPr>
          <p:cNvPr id="4" name="Image 0" descr="/home/user/dip_project/presentation/assets/skel_01.png">    </p:cNvPr>
          <p:cNvPicPr>
            <a:picLocks noChangeAspect="1"/>
          </p:cNvPicPr>
          <p:nvPr/>
        </p:nvPicPr>
        <p:blipFill>
          <a:blip r:embed="rId1"/>
          <a:stretch>
            <a:fillRect/>
          </a:stretch>
        </p:blipFill>
        <p:spPr>
          <a:xfrm>
            <a:off x="8732520" y="1325880"/>
            <a:ext cx="3007812" cy="3108960"/>
          </a:xfrm>
          <a:prstGeom prst="rect">
            <a:avLst/>
          </a:prstGeom>
        </p:spPr>
      </p:pic>
      <p:sp>
        <p:nvSpPr>
          <p:cNvPr id="5" name="Text 2"/>
          <p:cNvSpPr txBox="1"/>
          <p:nvPr/>
        </p:nvSpPr>
        <p:spPr>
          <a:xfrm>
            <a:off x="640080" y="5120640"/>
            <a:ext cx="2468880" cy="731520"/>
          </a:xfrm>
          <a:prstGeom prst="rect">
            <a:avLst/>
          </a:prstGeom>
          <a:noFill/>
          <a:ln/>
        </p:spPr>
        <p:txBody>
          <a:bodyPr wrap="square" lIns="0" tIns="0" rIns="0" bIns="0" rtlCol="0" anchor="t"/>
          <a:lstStyle/>
          <a:p>
            <a:pPr indent="0" marL="0">
              <a:buNone/>
            </a:pPr>
            <a:r>
              <a:rPr lang="en-US" sz="1500" b="1" dirty="0">
                <a:solidFill>
                  <a:schemeClr val="bg1"/>
                </a:solidFill>
              </a:rPr>
              <a:t>Mrinali Bhardwaj</a:t>
            </a:r>
            <a:endParaRPr lang="en-US" sz="1500" dirty="0"/>
          </a:p>
          <a:p>
            <a:pPr indent="0" marL="0">
              <a:buNone/>
            </a:pPr>
            <a:r>
              <a:rPr lang="en-US" sz="1500" dirty="0">
                <a:solidFill>
                  <a:schemeClr val="accent4"/>
                </a:solidFill>
              </a:rPr>
              <a:t>23BCE0910</a:t>
            </a:r>
            <a:endParaRPr lang="en-US" sz="1500" dirty="0"/>
          </a:p>
        </p:txBody>
      </p:sp>
      <p:sp>
        <p:nvSpPr>
          <p:cNvPr id="6" name="Text 3"/>
          <p:cNvSpPr txBox="1"/>
          <p:nvPr/>
        </p:nvSpPr>
        <p:spPr>
          <a:xfrm>
            <a:off x="3291840" y="5120640"/>
            <a:ext cx="2468880" cy="731520"/>
          </a:xfrm>
          <a:prstGeom prst="rect">
            <a:avLst/>
          </a:prstGeom>
          <a:noFill/>
          <a:ln/>
        </p:spPr>
        <p:txBody>
          <a:bodyPr wrap="square" lIns="0" tIns="0" rIns="0" bIns="0" rtlCol="0" anchor="t"/>
          <a:lstStyle/>
          <a:p>
            <a:pPr indent="0" marL="0">
              <a:buNone/>
            </a:pPr>
            <a:r>
              <a:rPr lang="en-US" sz="1500" b="1" dirty="0">
                <a:solidFill>
                  <a:schemeClr val="bg1"/>
                </a:solidFill>
              </a:rPr>
              <a:t>S K Krithika</a:t>
            </a:r>
            <a:endParaRPr lang="en-US" sz="1500" dirty="0"/>
          </a:p>
          <a:p>
            <a:pPr indent="0" marL="0">
              <a:buNone/>
            </a:pPr>
            <a:r>
              <a:rPr lang="en-US" sz="1500" dirty="0">
                <a:solidFill>
                  <a:schemeClr val="accent4"/>
                </a:solidFill>
              </a:rPr>
              <a:t>23BCE0908</a:t>
            </a:r>
            <a:endParaRPr lang="en-US" sz="1500" dirty="0"/>
          </a:p>
        </p:txBody>
      </p:sp>
      <p:sp>
        <p:nvSpPr>
          <p:cNvPr id="7" name="Text 4"/>
          <p:cNvSpPr txBox="1"/>
          <p:nvPr/>
        </p:nvSpPr>
        <p:spPr>
          <a:xfrm>
            <a:off x="5943600" y="5120640"/>
            <a:ext cx="2468880" cy="731520"/>
          </a:xfrm>
          <a:prstGeom prst="rect">
            <a:avLst/>
          </a:prstGeom>
          <a:noFill/>
          <a:ln/>
        </p:spPr>
        <p:txBody>
          <a:bodyPr wrap="square" lIns="0" tIns="0" rIns="0" bIns="0" rtlCol="0" anchor="t"/>
          <a:lstStyle/>
          <a:p>
            <a:pPr indent="0" marL="0">
              <a:buNone/>
            </a:pPr>
            <a:r>
              <a:rPr lang="en-US" sz="1500" b="1" dirty="0">
                <a:solidFill>
                  <a:schemeClr val="bg1"/>
                </a:solidFill>
              </a:rPr>
              <a:t>Aviral Chaubey</a:t>
            </a:r>
            <a:endParaRPr lang="en-US" sz="1500" dirty="0"/>
          </a:p>
          <a:p>
            <a:pPr indent="0" marL="0">
              <a:buNone/>
            </a:pPr>
            <a:r>
              <a:rPr lang="en-US" sz="1500" dirty="0">
                <a:solidFill>
                  <a:schemeClr val="accent4"/>
                </a:solidFill>
              </a:rPr>
              <a:t>23BCE0566</a:t>
            </a:r>
            <a:endParaRPr lang="en-US" sz="1500" dirty="0"/>
          </a:p>
        </p:txBody>
      </p:sp>
      <p:sp>
        <p:nvSpPr>
          <p:cNvPr id="8" name="Text 5"/>
          <p:cNvSpPr txBox="1"/>
          <p:nvPr/>
        </p:nvSpPr>
        <p:spPr>
          <a:xfrm>
            <a:off x="640080" y="6035040"/>
            <a:ext cx="7315200" cy="365760"/>
          </a:xfrm>
          <a:prstGeom prst="rect">
            <a:avLst/>
          </a:prstGeom>
          <a:noFill/>
          <a:ln/>
        </p:spPr>
        <p:txBody>
          <a:bodyPr wrap="square" lIns="0" tIns="0" rIns="0" bIns="0" rtlCol="0" anchor="t"/>
          <a:lstStyle/>
          <a:p>
            <a:pPr indent="0" marL="0">
              <a:buNone/>
            </a:pPr>
            <a:r>
              <a:rPr lang="en-US" sz="1200" dirty="0">
                <a:solidFill>
                  <a:schemeClr val="accent4"/>
                </a:solidFill>
              </a:rPr>
              <a:t>School of Computer Science and Engineering, VIT Vellore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Why vessels, and why not deep learning</a:t>
            </a:r>
            <a:endParaRPr lang="en-US" sz="3000" dirty="0"/>
          </a:p>
        </p:txBody>
      </p:sp>
      <p:sp>
        <p:nvSpPr>
          <p:cNvPr id="3" name="Shape 1"/>
          <p:cNvSpPr/>
          <p:nvPr/>
        </p:nvSpPr>
        <p:spPr>
          <a:xfrm>
            <a:off x="548640" y="141732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02259" y="1570939"/>
            <a:ext cx="332842" cy="332842"/>
          </a:xfrm>
          <a:prstGeom prst="rect">
            <a:avLst/>
          </a:prstGeom>
        </p:spPr>
      </p:pic>
      <p:sp>
        <p:nvSpPr>
          <p:cNvPr id="5" name="Text 2"/>
          <p:cNvSpPr txBox="1"/>
          <p:nvPr/>
        </p:nvSpPr>
        <p:spPr>
          <a:xfrm>
            <a:off x="1417320" y="1371600"/>
            <a:ext cx="6035040" cy="411480"/>
          </a:xfrm>
          <a:prstGeom prst="rect">
            <a:avLst/>
          </a:prstGeom>
          <a:noFill/>
          <a:ln/>
        </p:spPr>
        <p:txBody>
          <a:bodyPr wrap="square" lIns="0" tIns="0" rIns="0" bIns="0" rtlCol="0" anchor="t"/>
          <a:lstStyle/>
          <a:p>
            <a:pPr indent="0" marL="0">
              <a:buNone/>
            </a:pPr>
            <a:r>
              <a:rPr lang="en-US" sz="1900" b="1" dirty="0">
                <a:solidFill>
                  <a:schemeClr val="tx2"/>
                </a:solidFill>
              </a:rPr>
              <a:t>Diabetic retinopathy damages vessels first</a:t>
            </a:r>
            <a:endParaRPr lang="en-US" sz="1900" dirty="0"/>
          </a:p>
        </p:txBody>
      </p:sp>
      <p:sp>
        <p:nvSpPr>
          <p:cNvPr id="6" name="Text 3"/>
          <p:cNvSpPr txBox="1"/>
          <p:nvPr/>
        </p:nvSpPr>
        <p:spPr>
          <a:xfrm>
            <a:off x="1417320" y="1801368"/>
            <a:ext cx="6035040" cy="868680"/>
          </a:xfrm>
          <a:prstGeom prst="rect">
            <a:avLst/>
          </a:prstGeom>
          <a:noFill/>
          <a:ln/>
        </p:spPr>
        <p:txBody>
          <a:bodyPr wrap="square" lIns="0" tIns="0" rIns="0" bIns="0" rtlCol="0" anchor="t"/>
          <a:lstStyle/>
          <a:p>
            <a:pPr indent="0" marL="0">
              <a:buNone/>
            </a:pPr>
            <a:r>
              <a:rPr lang="en-US" sz="1500" dirty="0">
                <a:solidFill>
                  <a:schemeClr val="tx1"/>
                </a:solidFill>
              </a:rPr>
              <a:t>Changes in vessel shape and spread (tortuosity, dropout, abnormal branching) appear before vision is lost.</a:t>
            </a:r>
            <a:endParaRPr lang="en-US" sz="1500" dirty="0"/>
          </a:p>
        </p:txBody>
      </p:sp>
      <p:sp>
        <p:nvSpPr>
          <p:cNvPr id="7" name="Shape 4"/>
          <p:cNvSpPr/>
          <p:nvPr/>
        </p:nvSpPr>
        <p:spPr>
          <a:xfrm>
            <a:off x="548640" y="3017520"/>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2259" y="3171139"/>
            <a:ext cx="332842" cy="332842"/>
          </a:xfrm>
          <a:prstGeom prst="rect">
            <a:avLst/>
          </a:prstGeom>
        </p:spPr>
      </p:pic>
      <p:sp>
        <p:nvSpPr>
          <p:cNvPr id="9" name="Text 5"/>
          <p:cNvSpPr txBox="1"/>
          <p:nvPr/>
        </p:nvSpPr>
        <p:spPr>
          <a:xfrm>
            <a:off x="1417320" y="2971800"/>
            <a:ext cx="6035040" cy="411480"/>
          </a:xfrm>
          <a:prstGeom prst="rect">
            <a:avLst/>
          </a:prstGeom>
          <a:noFill/>
          <a:ln/>
        </p:spPr>
        <p:txBody>
          <a:bodyPr wrap="square" lIns="0" tIns="0" rIns="0" bIns="0" rtlCol="0" anchor="t"/>
          <a:lstStyle/>
          <a:p>
            <a:pPr indent="0" marL="0">
              <a:buNone/>
            </a:pPr>
            <a:r>
              <a:rPr lang="en-US" sz="1900" b="1" dirty="0">
                <a:solidFill>
                  <a:schemeClr val="tx2"/>
                </a:solidFill>
              </a:rPr>
              <a:t>Screening lacks experts and GPUs</a:t>
            </a:r>
            <a:endParaRPr lang="en-US" sz="1900" dirty="0"/>
          </a:p>
        </p:txBody>
      </p:sp>
      <p:sp>
        <p:nvSpPr>
          <p:cNvPr id="10" name="Text 6"/>
          <p:cNvSpPr txBox="1"/>
          <p:nvPr/>
        </p:nvSpPr>
        <p:spPr>
          <a:xfrm>
            <a:off x="1417320" y="3401568"/>
            <a:ext cx="6035040" cy="868680"/>
          </a:xfrm>
          <a:prstGeom prst="rect">
            <a:avLst/>
          </a:prstGeom>
          <a:noFill/>
          <a:ln/>
        </p:spPr>
        <p:txBody>
          <a:bodyPr wrap="square" lIns="0" tIns="0" rIns="0" bIns="0" rtlCol="0" anchor="t"/>
          <a:lstStyle/>
          <a:p>
            <a:pPr indent="0" marL="0">
              <a:buNone/>
            </a:pPr>
            <a:r>
              <a:rPr lang="en-US" sz="1500" dirty="0">
                <a:solidFill>
                  <a:schemeClr val="tx1"/>
                </a:solidFill>
              </a:rPr>
              <a:t>Eye camps and primary health centres capture many fundus photos but rarely have an ophthalmologist or a GPU on site.</a:t>
            </a:r>
            <a:endParaRPr lang="en-US" sz="1500" dirty="0"/>
          </a:p>
        </p:txBody>
      </p:sp>
      <p:sp>
        <p:nvSpPr>
          <p:cNvPr id="11" name="Shape 7"/>
          <p:cNvSpPr/>
          <p:nvPr/>
        </p:nvSpPr>
        <p:spPr>
          <a:xfrm>
            <a:off x="548640" y="4617720"/>
            <a:ext cx="640080" cy="64008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702259" y="4771339"/>
            <a:ext cx="332842" cy="332842"/>
          </a:xfrm>
          <a:prstGeom prst="rect">
            <a:avLst/>
          </a:prstGeom>
        </p:spPr>
      </p:pic>
      <p:sp>
        <p:nvSpPr>
          <p:cNvPr id="13" name="Text 8"/>
          <p:cNvSpPr txBox="1"/>
          <p:nvPr/>
        </p:nvSpPr>
        <p:spPr>
          <a:xfrm>
            <a:off x="1417320" y="4572000"/>
            <a:ext cx="6035040" cy="411480"/>
          </a:xfrm>
          <a:prstGeom prst="rect">
            <a:avLst/>
          </a:prstGeom>
          <a:noFill/>
          <a:ln/>
        </p:spPr>
        <p:txBody>
          <a:bodyPr wrap="square" lIns="0" tIns="0" rIns="0" bIns="0" rtlCol="0" anchor="t"/>
          <a:lstStyle/>
          <a:p>
            <a:pPr indent="0" marL="0">
              <a:buNone/>
            </a:pPr>
            <a:r>
              <a:rPr lang="en-US" sz="1900" b="1" dirty="0">
                <a:solidFill>
                  <a:schemeClr val="tx2"/>
                </a:solidFill>
              </a:rPr>
              <a:t>Existing tools stop short</a:t>
            </a:r>
            <a:endParaRPr lang="en-US" sz="1900" dirty="0"/>
          </a:p>
        </p:txBody>
      </p:sp>
      <p:sp>
        <p:nvSpPr>
          <p:cNvPr id="14" name="Text 9"/>
          <p:cNvSpPr txBox="1"/>
          <p:nvPr/>
        </p:nvSpPr>
        <p:spPr>
          <a:xfrm>
            <a:off x="1417320" y="5001768"/>
            <a:ext cx="6035040" cy="868680"/>
          </a:xfrm>
          <a:prstGeom prst="rect">
            <a:avLst/>
          </a:prstGeom>
          <a:noFill/>
          <a:ln/>
        </p:spPr>
        <p:txBody>
          <a:bodyPr wrap="square" lIns="0" tIns="0" rIns="0" bIns="0" rtlCol="0" anchor="t"/>
          <a:lstStyle/>
          <a:p>
            <a:pPr indent="0" marL="0">
              <a:buNone/>
            </a:pPr>
            <a:r>
              <a:rPr lang="en-US" sz="1500" dirty="0">
                <a:solidFill>
                  <a:schemeClr val="tx1"/>
                </a:solidFill>
              </a:rPr>
              <a:t>Classical methods output only a binary mask; deep networks (U-Net) need labelled data and GPUs, and give no reason for their answer.</a:t>
            </a:r>
            <a:endParaRPr lang="en-US" sz="1500" dirty="0"/>
          </a:p>
        </p:txBody>
      </p:sp>
      <p:pic>
        <p:nvPicPr>
          <p:cNvPr id="15" name="Image 3" descr="/home/user/dip_project/presentation/assets/rgb_08.png">    </p:cNvPr>
          <p:cNvPicPr>
            <a:picLocks noChangeAspect="1"/>
          </p:cNvPicPr>
          <p:nvPr/>
        </p:nvPicPr>
        <p:blipFill>
          <a:blip r:embed="rId4"/>
          <a:stretch>
            <a:fillRect/>
          </a:stretch>
        </p:blipFill>
        <p:spPr>
          <a:xfrm>
            <a:off x="8001000" y="1325880"/>
            <a:ext cx="4069393" cy="4206240"/>
          </a:xfrm>
          <a:prstGeom prst="rect">
            <a:avLst/>
          </a:prstGeom>
        </p:spPr>
      </p:pic>
      <p:sp>
        <p:nvSpPr>
          <p:cNvPr id="16" name="Text 10"/>
          <p:cNvSpPr txBox="1"/>
          <p:nvPr/>
        </p:nvSpPr>
        <p:spPr>
          <a:xfrm>
            <a:off x="8001000" y="5577840"/>
            <a:ext cx="4069080" cy="320040"/>
          </a:xfrm>
          <a:prstGeom prst="rect">
            <a:avLst/>
          </a:prstGeom>
          <a:noFill/>
          <a:ln/>
        </p:spPr>
        <p:txBody>
          <a:bodyPr wrap="square" rtlCol="0" anchor="t"/>
          <a:lstStyle/>
          <a:p>
            <a:pPr algn="ctr" indent="0" marL="0">
              <a:buNone/>
            </a:pPr>
            <a:r>
              <a:rPr lang="en-US" sz="1100" i="1" dirty="0">
                <a:solidFill>
                  <a:srgbClr val="5B6478"/>
                </a:solidFill>
              </a:rPr>
              <a:t>DRIVE image 08 — early DR with exudates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Objective and contributions</a:t>
            </a:r>
            <a:endParaRPr lang="en-US" sz="3000" dirty="0"/>
          </a:p>
        </p:txBody>
      </p:sp>
      <p:sp>
        <p:nvSpPr>
          <p:cNvPr id="3" name="Shape 1"/>
          <p:cNvSpPr/>
          <p:nvPr/>
        </p:nvSpPr>
        <p:spPr>
          <a:xfrm>
            <a:off x="548640" y="1325880"/>
            <a:ext cx="11064240" cy="960120"/>
          </a:xfrm>
          <a:prstGeom prst="roundRect">
            <a:avLst>
              <a:gd name="adj" fmla="val 7619"/>
            </a:avLst>
          </a:prstGeom>
          <a:solidFill>
            <a:schemeClr val="tx2"/>
          </a:solidFill>
          <a:ln/>
        </p:spPr>
      </p:sp>
      <p:sp>
        <p:nvSpPr>
          <p:cNvPr id="4" name="Text 2"/>
          <p:cNvSpPr txBox="1"/>
          <p:nvPr/>
        </p:nvSpPr>
        <p:spPr>
          <a:xfrm>
            <a:off x="777240" y="1371600"/>
            <a:ext cx="10607040" cy="868680"/>
          </a:xfrm>
          <a:prstGeom prst="rect">
            <a:avLst/>
          </a:prstGeom>
          <a:noFill/>
          <a:ln/>
        </p:spPr>
        <p:txBody>
          <a:bodyPr wrap="square" lIns="0" tIns="0" rIns="0" bIns="0" rtlCol="0" anchor="ctr"/>
          <a:lstStyle/>
          <a:p>
            <a:pPr indent="0" marL="0">
              <a:buNone/>
            </a:pPr>
            <a:r>
              <a:rPr lang="en-US" sz="1600" dirty="0">
                <a:solidFill>
                  <a:schemeClr val="bg1"/>
                </a:solidFill>
              </a:rPr>
              <a:t>Segment the retinal vessel tree with a training-free, multi-scale DIP pipeline, measure six structural and texture properties, and fuse them into one graded, explainable DR risk score validated on DRIVE.</a:t>
            </a:r>
            <a:endParaRPr lang="en-US" sz="1600" dirty="0"/>
          </a:p>
        </p:txBody>
      </p:sp>
      <p:sp>
        <p:nvSpPr>
          <p:cNvPr id="5" name="Shape 3"/>
          <p:cNvSpPr/>
          <p:nvPr/>
        </p:nvSpPr>
        <p:spPr>
          <a:xfrm>
            <a:off x="548640" y="2606040"/>
            <a:ext cx="2606040" cy="3429000"/>
          </a:xfrm>
          <a:prstGeom prst="roundRect">
            <a:avLst>
              <a:gd name="adj" fmla="val 2807"/>
            </a:avLst>
          </a:prstGeom>
          <a:solidFill>
            <a:schemeClr val="bg2"/>
          </a:solidFill>
          <a:ln/>
        </p:spPr>
      </p:sp>
      <p:sp>
        <p:nvSpPr>
          <p:cNvPr id="6" name="Shape 4"/>
          <p:cNvSpPr/>
          <p:nvPr/>
        </p:nvSpPr>
        <p:spPr>
          <a:xfrm>
            <a:off x="822960" y="2880360"/>
            <a:ext cx="640080" cy="6400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76579" y="3033979"/>
            <a:ext cx="332842" cy="332842"/>
          </a:xfrm>
          <a:prstGeom prst="rect">
            <a:avLst/>
          </a:prstGeom>
        </p:spPr>
      </p:pic>
      <p:sp>
        <p:nvSpPr>
          <p:cNvPr id="8" name="Text 5"/>
          <p:cNvSpPr txBox="1"/>
          <p:nvPr/>
        </p:nvSpPr>
        <p:spPr>
          <a:xfrm>
            <a:off x="822960" y="3703320"/>
            <a:ext cx="2103120" cy="731520"/>
          </a:xfrm>
          <a:prstGeom prst="rect">
            <a:avLst/>
          </a:prstGeom>
          <a:noFill/>
          <a:ln/>
        </p:spPr>
        <p:txBody>
          <a:bodyPr wrap="square" lIns="0" tIns="0" rIns="0" bIns="0" rtlCol="0" anchor="t"/>
          <a:lstStyle/>
          <a:p>
            <a:pPr indent="0" marL="0">
              <a:buNone/>
            </a:pPr>
            <a:r>
              <a:rPr lang="en-US" sz="1800" b="1" dirty="0">
                <a:solidFill>
                  <a:schemeClr val="tx2"/>
                </a:solidFill>
              </a:rPr>
              <a:t>End-to-end pipeline</a:t>
            </a:r>
            <a:endParaRPr lang="en-US" sz="1800" dirty="0"/>
          </a:p>
        </p:txBody>
      </p:sp>
      <p:sp>
        <p:nvSpPr>
          <p:cNvPr id="9" name="Text 6"/>
          <p:cNvSpPr txBox="1"/>
          <p:nvPr/>
        </p:nvSpPr>
        <p:spPr>
          <a:xfrm>
            <a:off x="822960" y="4480560"/>
            <a:ext cx="2103120" cy="1371600"/>
          </a:xfrm>
          <a:prstGeom prst="rect">
            <a:avLst/>
          </a:prstGeom>
          <a:noFill/>
          <a:ln/>
        </p:spPr>
        <p:txBody>
          <a:bodyPr wrap="square" lIns="0" tIns="0" rIns="0" bIns="0" rtlCol="0" anchor="t"/>
          <a:lstStyle/>
          <a:p>
            <a:pPr indent="0" marL="0">
              <a:buNone/>
            </a:pPr>
            <a:r>
              <a:rPr lang="en-US" sz="1400" dirty="0">
                <a:solidFill>
                  <a:schemeClr val="tx1"/>
                </a:solidFill>
              </a:rPr>
              <a:t>Raw fundus image → graded risk, every stage a standard DIP operation</a:t>
            </a:r>
            <a:endParaRPr lang="en-US" sz="1400" dirty="0"/>
          </a:p>
        </p:txBody>
      </p:sp>
      <p:sp>
        <p:nvSpPr>
          <p:cNvPr id="10" name="Shape 7"/>
          <p:cNvSpPr/>
          <p:nvPr/>
        </p:nvSpPr>
        <p:spPr>
          <a:xfrm>
            <a:off x="3383280" y="2606040"/>
            <a:ext cx="2606040" cy="3429000"/>
          </a:xfrm>
          <a:prstGeom prst="roundRect">
            <a:avLst>
              <a:gd name="adj" fmla="val 2807"/>
            </a:avLst>
          </a:prstGeom>
          <a:solidFill>
            <a:schemeClr val="bg2"/>
          </a:solidFill>
          <a:ln/>
        </p:spPr>
      </p:sp>
      <p:sp>
        <p:nvSpPr>
          <p:cNvPr id="11" name="Shape 8"/>
          <p:cNvSpPr/>
          <p:nvPr/>
        </p:nvSpPr>
        <p:spPr>
          <a:xfrm>
            <a:off x="3657600" y="2880360"/>
            <a:ext cx="640080" cy="64008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811219" y="3033979"/>
            <a:ext cx="332842" cy="332842"/>
          </a:xfrm>
          <a:prstGeom prst="rect">
            <a:avLst/>
          </a:prstGeom>
        </p:spPr>
      </p:pic>
      <p:sp>
        <p:nvSpPr>
          <p:cNvPr id="13" name="Text 9"/>
          <p:cNvSpPr txBox="1"/>
          <p:nvPr/>
        </p:nvSpPr>
        <p:spPr>
          <a:xfrm>
            <a:off x="3657600" y="3703320"/>
            <a:ext cx="2103120" cy="731520"/>
          </a:xfrm>
          <a:prstGeom prst="rect">
            <a:avLst/>
          </a:prstGeom>
          <a:noFill/>
          <a:ln/>
        </p:spPr>
        <p:txBody>
          <a:bodyPr wrap="square" lIns="0" tIns="0" rIns="0" bIns="0" rtlCol="0" anchor="t"/>
          <a:lstStyle/>
          <a:p>
            <a:pPr indent="0" marL="0">
              <a:buNone/>
            </a:pPr>
            <a:r>
              <a:rPr lang="en-US" sz="1800" b="1" dirty="0">
                <a:solidFill>
                  <a:schemeClr val="tx2"/>
                </a:solidFill>
              </a:rPr>
              <a:t>Tuned multi-scale Frangi</a:t>
            </a:r>
            <a:endParaRPr lang="en-US" sz="1800" dirty="0"/>
          </a:p>
        </p:txBody>
      </p:sp>
      <p:sp>
        <p:nvSpPr>
          <p:cNvPr id="14" name="Text 10"/>
          <p:cNvSpPr txBox="1"/>
          <p:nvPr/>
        </p:nvSpPr>
        <p:spPr>
          <a:xfrm>
            <a:off x="3657600" y="4480560"/>
            <a:ext cx="2103120" cy="1371600"/>
          </a:xfrm>
          <a:prstGeom prst="rect">
            <a:avLst/>
          </a:prstGeom>
          <a:noFill/>
          <a:ln/>
        </p:spPr>
        <p:txBody>
          <a:bodyPr wrap="square" lIns="0" tIns="0" rIns="0" bIns="0" rtlCol="0" anchor="t"/>
          <a:lstStyle/>
          <a:p>
            <a:pPr indent="0" marL="0">
              <a:buNone/>
            </a:pPr>
            <a:r>
              <a:rPr lang="en-US" sz="1400" dirty="0">
                <a:solidFill>
                  <a:schemeClr val="tx1"/>
                </a:solidFill>
              </a:rPr>
              <a:t>σ = 1–3, β = 0.5, c = 15: thin and thick vessels, no optic-disc halo</a:t>
            </a:r>
            <a:endParaRPr lang="en-US" sz="1400" dirty="0"/>
          </a:p>
        </p:txBody>
      </p:sp>
      <p:sp>
        <p:nvSpPr>
          <p:cNvPr id="15" name="Shape 11"/>
          <p:cNvSpPr/>
          <p:nvPr/>
        </p:nvSpPr>
        <p:spPr>
          <a:xfrm>
            <a:off x="6217920" y="2606040"/>
            <a:ext cx="2606040" cy="3429000"/>
          </a:xfrm>
          <a:prstGeom prst="roundRect">
            <a:avLst>
              <a:gd name="adj" fmla="val 2807"/>
            </a:avLst>
          </a:prstGeom>
          <a:solidFill>
            <a:schemeClr val="bg2"/>
          </a:solidFill>
          <a:ln/>
        </p:spPr>
      </p:sp>
      <p:sp>
        <p:nvSpPr>
          <p:cNvPr id="16" name="Shape 12"/>
          <p:cNvSpPr/>
          <p:nvPr/>
        </p:nvSpPr>
        <p:spPr>
          <a:xfrm>
            <a:off x="6492240" y="2880360"/>
            <a:ext cx="640080" cy="64008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45859" y="3033979"/>
            <a:ext cx="332842" cy="332842"/>
          </a:xfrm>
          <a:prstGeom prst="rect">
            <a:avLst/>
          </a:prstGeom>
        </p:spPr>
      </p:pic>
      <p:sp>
        <p:nvSpPr>
          <p:cNvPr id="18" name="Text 13"/>
          <p:cNvSpPr txBox="1"/>
          <p:nvPr/>
        </p:nvSpPr>
        <p:spPr>
          <a:xfrm>
            <a:off x="6492240" y="3703320"/>
            <a:ext cx="2103120" cy="731520"/>
          </a:xfrm>
          <a:prstGeom prst="rect">
            <a:avLst/>
          </a:prstGeom>
          <a:noFill/>
          <a:ln/>
        </p:spPr>
        <p:txBody>
          <a:bodyPr wrap="square" lIns="0" tIns="0" rIns="0" bIns="0" rtlCol="0" anchor="t"/>
          <a:lstStyle/>
          <a:p>
            <a:pPr indent="0" marL="0">
              <a:buNone/>
            </a:pPr>
            <a:r>
              <a:rPr lang="en-US" sz="1800" b="1" dirty="0">
                <a:solidFill>
                  <a:schemeClr val="tx2"/>
                </a:solidFill>
              </a:rPr>
              <a:t>Structure + texture fusion</a:t>
            </a:r>
            <a:endParaRPr lang="en-US" sz="1800" dirty="0"/>
          </a:p>
        </p:txBody>
      </p:sp>
      <p:sp>
        <p:nvSpPr>
          <p:cNvPr id="19" name="Text 14"/>
          <p:cNvSpPr txBox="1"/>
          <p:nvPr/>
        </p:nvSpPr>
        <p:spPr>
          <a:xfrm>
            <a:off x="6492240" y="4480560"/>
            <a:ext cx="2103120" cy="1371600"/>
          </a:xfrm>
          <a:prstGeom prst="rect">
            <a:avLst/>
          </a:prstGeom>
          <a:noFill/>
          <a:ln/>
        </p:spPr>
        <p:txBody>
          <a:bodyPr wrap="square" lIns="0" tIns="0" rIns="0" bIns="0" rtlCol="0" anchor="t"/>
          <a:lstStyle/>
          <a:p>
            <a:pPr indent="0" marL="0">
              <a:buNone/>
            </a:pPr>
            <a:r>
              <a:rPr lang="en-US" sz="1400" dirty="0">
                <a:solidFill>
                  <a:schemeClr val="tx1"/>
                </a:solidFill>
              </a:rPr>
              <a:t>3 skeleton features + 3 GLCM features measured in the same pass</a:t>
            </a:r>
            <a:endParaRPr lang="en-US" sz="1400" dirty="0"/>
          </a:p>
        </p:txBody>
      </p:sp>
      <p:sp>
        <p:nvSpPr>
          <p:cNvPr id="20" name="Shape 15"/>
          <p:cNvSpPr/>
          <p:nvPr/>
        </p:nvSpPr>
        <p:spPr>
          <a:xfrm>
            <a:off x="9052560" y="2606040"/>
            <a:ext cx="2606040" cy="3429000"/>
          </a:xfrm>
          <a:prstGeom prst="roundRect">
            <a:avLst>
              <a:gd name="adj" fmla="val 2807"/>
            </a:avLst>
          </a:prstGeom>
          <a:solidFill>
            <a:schemeClr val="bg2"/>
          </a:solidFill>
          <a:ln/>
        </p:spPr>
      </p:sp>
      <p:sp>
        <p:nvSpPr>
          <p:cNvPr id="21" name="Shape 16"/>
          <p:cNvSpPr/>
          <p:nvPr/>
        </p:nvSpPr>
        <p:spPr>
          <a:xfrm>
            <a:off x="9326880" y="2880360"/>
            <a:ext cx="640080" cy="64008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480499" y="3033979"/>
            <a:ext cx="332842" cy="332842"/>
          </a:xfrm>
          <a:prstGeom prst="rect">
            <a:avLst/>
          </a:prstGeom>
        </p:spPr>
      </p:pic>
      <p:sp>
        <p:nvSpPr>
          <p:cNvPr id="23" name="Text 17"/>
          <p:cNvSpPr txBox="1"/>
          <p:nvPr/>
        </p:nvSpPr>
        <p:spPr>
          <a:xfrm>
            <a:off x="9326880" y="3703320"/>
            <a:ext cx="2103120" cy="731520"/>
          </a:xfrm>
          <a:prstGeom prst="rect">
            <a:avLst/>
          </a:prstGeom>
          <a:noFill/>
          <a:ln/>
        </p:spPr>
        <p:txBody>
          <a:bodyPr wrap="square" lIns="0" tIns="0" rIns="0" bIns="0" rtlCol="0" anchor="t"/>
          <a:lstStyle/>
          <a:p>
            <a:pPr indent="0" marL="0">
              <a:buNone/>
            </a:pPr>
            <a:r>
              <a:rPr lang="en-US" sz="1800" b="1" dirty="0">
                <a:solidFill>
                  <a:schemeClr val="tx2"/>
                </a:solidFill>
              </a:rPr>
              <a:t>Explainable by design</a:t>
            </a:r>
            <a:endParaRPr lang="en-US" sz="1800" dirty="0"/>
          </a:p>
        </p:txBody>
      </p:sp>
      <p:sp>
        <p:nvSpPr>
          <p:cNvPr id="24" name="Text 18"/>
          <p:cNvSpPr txBox="1"/>
          <p:nvPr/>
        </p:nvSpPr>
        <p:spPr>
          <a:xfrm>
            <a:off x="9326880" y="4480560"/>
            <a:ext cx="2103120" cy="1371600"/>
          </a:xfrm>
          <a:prstGeom prst="rect">
            <a:avLst/>
          </a:prstGeom>
          <a:noFill/>
          <a:ln/>
        </p:spPr>
        <p:txBody>
          <a:bodyPr wrap="square" lIns="0" tIns="0" rIns="0" bIns="0" rtlCol="0" anchor="t"/>
          <a:lstStyle/>
          <a:p>
            <a:pPr indent="0" marL="0">
              <a:buNone/>
            </a:pPr>
            <a:r>
              <a:rPr lang="en-US" sz="1400" dirty="0">
                <a:solidFill>
                  <a:schemeClr val="tx1"/>
                </a:solidFill>
              </a:rPr>
              <a:t>Fixed weights on physically measurable quantities — nothing learned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Where existing approaches fall short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3108960"/>
                <a:gridCol w="1325880"/>
                <a:gridCol w="1234440"/>
                <a:gridCol w="1463040"/>
                <a:gridCol w="12801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Needs labels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Needs GPU</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Clinical score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Explainable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Matched filter / line detector</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Chaudhuri 1989, Nguyen 2013</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Morphological / model-based</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Zana &amp; Klein 2001, Mendonça 2006</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Classical supervised</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Staal 2004, Soares 2006, Marín 2011</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5B6478"/>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Deep learning</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U-Net 2015, Liskowski 2016</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This work</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Frangi + structure/texture fusion</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2A9D8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4" name="Shape 1"/>
          <p:cNvSpPr/>
          <p:nvPr/>
        </p:nvSpPr>
        <p:spPr>
          <a:xfrm>
            <a:off x="548640" y="4754880"/>
            <a:ext cx="11064240" cy="1325880"/>
          </a:xfrm>
          <a:prstGeom prst="roundRect">
            <a:avLst>
              <a:gd name="adj" fmla="val 5517"/>
            </a:avLst>
          </a:prstGeom>
          <a:solidFill>
            <a:schemeClr val="bg2"/>
          </a:solidFill>
          <a:ln/>
        </p:spPr>
      </p:sp>
      <p:sp>
        <p:nvSpPr>
          <p:cNvPr id="5" name="Shape 2"/>
          <p:cNvSpPr/>
          <p:nvPr/>
        </p:nvSpPr>
        <p:spPr>
          <a:xfrm>
            <a:off x="777240" y="5120640"/>
            <a:ext cx="594360" cy="594360"/>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919886" y="5263286"/>
            <a:ext cx="309067" cy="309067"/>
          </a:xfrm>
          <a:prstGeom prst="rect">
            <a:avLst/>
          </a:prstGeom>
        </p:spPr>
      </p:pic>
      <p:sp>
        <p:nvSpPr>
          <p:cNvPr id="7" name="Text 3"/>
          <p:cNvSpPr txBox="1"/>
          <p:nvPr/>
        </p:nvSpPr>
        <p:spPr>
          <a:xfrm>
            <a:off x="1600200" y="4846320"/>
            <a:ext cx="9829800" cy="1143000"/>
          </a:xfrm>
          <a:prstGeom prst="rect">
            <a:avLst/>
          </a:prstGeom>
          <a:noFill/>
          <a:ln/>
        </p:spPr>
        <p:txBody>
          <a:bodyPr wrap="square" lIns="0" tIns="0" rIns="0" bIns="0" rtlCol="0" anchor="ctr"/>
          <a:lstStyle/>
          <a:p>
            <a:pPr indent="0" marL="0">
              <a:buNone/>
            </a:pPr>
            <a:r>
              <a:rPr lang="en-US" sz="1500" b="1" dirty="0">
                <a:solidFill>
                  <a:srgbClr val="14213D"/>
                </a:solidFill>
              </a:rPr>
              <a:t>Gaps we target: </a:t>
            </a:r>
            <a:pPr indent="0" marL="0">
              <a:buNone/>
            </a:pPr>
            <a:r>
              <a:rPr lang="en-US" sz="1500" dirty="0">
                <a:solidFill>
                  <a:schemeClr val="tx1"/>
                </a:solidFill>
              </a:rPr>
              <a:t>matched filters fire on the optic-disc rim and exudates; thin peripheral vessels are still the weakest result everywhere; structural and texture features are almost always studied separately; and no unsupervised pipeline produces a per-image risk value.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Seven-module pipeline in four stages</a:t>
            </a:r>
            <a:endParaRPr lang="en-US" sz="3000" dirty="0"/>
          </a:p>
        </p:txBody>
      </p:sp>
      <p:sp>
        <p:nvSpPr>
          <p:cNvPr id="3" name="Shape 1"/>
          <p:cNvSpPr/>
          <p:nvPr/>
        </p:nvSpPr>
        <p:spPr>
          <a:xfrm>
            <a:off x="548640" y="1371600"/>
            <a:ext cx="2514600" cy="3931920"/>
          </a:xfrm>
          <a:prstGeom prst="roundRect">
            <a:avLst>
              <a:gd name="adj" fmla="val 2909"/>
            </a:avLst>
          </a:prstGeom>
          <a:solidFill>
            <a:schemeClr val="bg2"/>
          </a:solidFill>
          <a:ln/>
        </p:spPr>
      </p:sp>
      <p:sp>
        <p:nvSpPr>
          <p:cNvPr id="4" name="Shape 2"/>
          <p:cNvSpPr/>
          <p:nvPr/>
        </p:nvSpPr>
        <p:spPr>
          <a:xfrm>
            <a:off x="777240" y="1600200"/>
            <a:ext cx="640080" cy="640080"/>
          </a:xfrm>
          <a:prstGeom prst="ellipse">
            <a:avLst/>
          </a:prstGeom>
          <a:solidFill>
            <a:schemeClr val="accent3"/>
          </a:solidFill>
          <a:ln/>
        </p:spPr>
      </p:sp>
      <p:sp>
        <p:nvSpPr>
          <p:cNvPr id="5" name="Text 3"/>
          <p:cNvSpPr txBox="1"/>
          <p:nvPr/>
        </p:nvSpPr>
        <p:spPr>
          <a:xfrm>
            <a:off x="77724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6" name="Text 4"/>
          <p:cNvSpPr txBox="1"/>
          <p:nvPr/>
        </p:nvSpPr>
        <p:spPr>
          <a:xfrm>
            <a:off x="1554480" y="1600200"/>
            <a:ext cx="1463040" cy="640080"/>
          </a:xfrm>
          <a:prstGeom prst="rect">
            <a:avLst/>
          </a:prstGeom>
          <a:noFill/>
          <a:ln/>
        </p:spPr>
        <p:txBody>
          <a:bodyPr wrap="square" lIns="0" tIns="0" rIns="0" bIns="0" rtlCol="0" anchor="ctr"/>
          <a:lstStyle/>
          <a:p>
            <a:pPr indent="0" marL="0">
              <a:buNone/>
            </a:pPr>
            <a:r>
              <a:rPr lang="en-US" sz="1800" b="1" dirty="0">
                <a:solidFill>
                  <a:schemeClr val="tx2"/>
                </a:solidFill>
              </a:rPr>
              <a:t>Clean &amp; enhance</a:t>
            </a:r>
            <a:endParaRPr lang="en-US" sz="1800" dirty="0"/>
          </a:p>
        </p:txBody>
      </p:sp>
      <p:sp>
        <p:nvSpPr>
          <p:cNvPr id="7" name="Text 5"/>
          <p:cNvSpPr txBox="1"/>
          <p:nvPr/>
        </p:nvSpPr>
        <p:spPr>
          <a:xfrm>
            <a:off x="731520" y="2468880"/>
            <a:ext cx="21945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M1 Green channel + FOV mask</a:t>
            </a:r>
            <a:endParaRPr lang="en-US" sz="1400" dirty="0"/>
          </a:p>
          <a:p>
            <a:pPr marL="342900" indent="-342900">
              <a:spcAft>
                <a:spcPts val="800"/>
              </a:spcAft>
              <a:buSzPct val="100000"/>
              <a:buChar char="•"/>
            </a:pPr>
            <a:r>
              <a:rPr lang="en-US" sz="1400" dirty="0">
                <a:solidFill>
                  <a:schemeClr val="tx1"/>
                </a:solidFill>
              </a:rPr>
              <a:t>M2 CLAHE (clip 3.0, 8×8)</a:t>
            </a:r>
            <a:endParaRPr lang="en-US" sz="1400" dirty="0"/>
          </a:p>
          <a:p>
            <a:pPr marL="342900" indent="-342900">
              <a:spcAft>
                <a:spcPts val="800"/>
              </a:spcAft>
              <a:buSzPct val="100000"/>
              <a:buChar char="•"/>
            </a:pPr>
            <a:r>
              <a:rPr lang="en-US" sz="1400" dirty="0">
                <a:solidFill>
                  <a:schemeClr val="tx1"/>
                </a:solidFill>
              </a:rPr>
              <a:t>M3 DFT high-emphasis</a:t>
            </a:r>
            <a:endParaRPr lang="en-US" sz="1400" dirty="0"/>
          </a:p>
          <a:p>
            <a:pPr marL="342900" indent="-342900">
              <a:spcAft>
                <a:spcPts val="800"/>
              </a:spcAft>
              <a:buSzPct val="100000"/>
              <a:buChar char="•"/>
            </a:pPr>
            <a:r>
              <a:rPr lang="en-US" sz="1400" dirty="0">
                <a:solidFill>
                  <a:schemeClr val="tx1"/>
                </a:solidFill>
              </a:rPr>
              <a:t>M4 Illumination division + median</a:t>
            </a:r>
            <a:endParaRPr lang="en-US" sz="1400" dirty="0"/>
          </a:p>
        </p:txBody>
      </p:sp>
      <p:sp>
        <p:nvSpPr>
          <p:cNvPr id="8" name="Shape 6"/>
          <p:cNvSpPr/>
          <p:nvPr/>
        </p:nvSpPr>
        <p:spPr>
          <a:xfrm>
            <a:off x="3090672" y="3154680"/>
            <a:ext cx="265176" cy="365760"/>
          </a:xfrm>
          <a:prstGeom prst="rightArrow">
            <a:avLst/>
          </a:prstGeom>
          <a:solidFill>
            <a:schemeClr val="accent4"/>
          </a:solidFill>
          <a:ln/>
        </p:spPr>
      </p:sp>
      <p:sp>
        <p:nvSpPr>
          <p:cNvPr id="9" name="Shape 7"/>
          <p:cNvSpPr/>
          <p:nvPr/>
        </p:nvSpPr>
        <p:spPr>
          <a:xfrm>
            <a:off x="3383280" y="1371600"/>
            <a:ext cx="2514600" cy="3931920"/>
          </a:xfrm>
          <a:prstGeom prst="roundRect">
            <a:avLst>
              <a:gd name="adj" fmla="val 2909"/>
            </a:avLst>
          </a:prstGeom>
          <a:solidFill>
            <a:schemeClr val="bg2"/>
          </a:solidFill>
          <a:ln/>
        </p:spPr>
      </p:sp>
      <p:sp>
        <p:nvSpPr>
          <p:cNvPr id="10" name="Shape 8"/>
          <p:cNvSpPr/>
          <p:nvPr/>
        </p:nvSpPr>
        <p:spPr>
          <a:xfrm>
            <a:off x="3611880" y="1600200"/>
            <a:ext cx="640080" cy="640080"/>
          </a:xfrm>
          <a:prstGeom prst="ellipse">
            <a:avLst/>
          </a:prstGeom>
          <a:solidFill>
            <a:schemeClr val="accent1"/>
          </a:solidFill>
          <a:ln/>
        </p:spPr>
      </p:sp>
      <p:sp>
        <p:nvSpPr>
          <p:cNvPr id="11" name="Text 9"/>
          <p:cNvSpPr txBox="1"/>
          <p:nvPr/>
        </p:nvSpPr>
        <p:spPr>
          <a:xfrm>
            <a:off x="361188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Text 10"/>
          <p:cNvSpPr txBox="1"/>
          <p:nvPr/>
        </p:nvSpPr>
        <p:spPr>
          <a:xfrm>
            <a:off x="4389120" y="1600200"/>
            <a:ext cx="1463040" cy="640080"/>
          </a:xfrm>
          <a:prstGeom prst="rect">
            <a:avLst/>
          </a:prstGeom>
          <a:noFill/>
          <a:ln/>
        </p:spPr>
        <p:txBody>
          <a:bodyPr wrap="square" lIns="0" tIns="0" rIns="0" bIns="0" rtlCol="0" anchor="ctr"/>
          <a:lstStyle/>
          <a:p>
            <a:pPr indent="0" marL="0">
              <a:buNone/>
            </a:pPr>
            <a:r>
              <a:rPr lang="en-US" sz="1800" b="1" dirty="0">
                <a:solidFill>
                  <a:schemeClr val="tx2"/>
                </a:solidFill>
              </a:rPr>
              <a:t>Extract the tree</a:t>
            </a:r>
            <a:endParaRPr lang="en-US" sz="1800" dirty="0"/>
          </a:p>
        </p:txBody>
      </p:sp>
      <p:sp>
        <p:nvSpPr>
          <p:cNvPr id="13" name="Text 11"/>
          <p:cNvSpPr txBox="1"/>
          <p:nvPr/>
        </p:nvSpPr>
        <p:spPr>
          <a:xfrm>
            <a:off x="3566160" y="2468880"/>
            <a:ext cx="21945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M5 Multi-scale Hessian (Frangi)</a:t>
            </a:r>
            <a:endParaRPr lang="en-US" sz="1400" dirty="0"/>
          </a:p>
          <a:p>
            <a:pPr marL="342900" indent="-342900">
              <a:spcAft>
                <a:spcPts val="800"/>
              </a:spcAft>
              <a:buSzPct val="100000"/>
              <a:buChar char="•"/>
            </a:pPr>
            <a:r>
              <a:rPr lang="en-US" sz="1400" dirty="0">
                <a:solidFill>
                  <a:schemeClr val="tx1"/>
                </a:solidFill>
              </a:rPr>
              <a:t>Otsu threshold</a:t>
            </a:r>
            <a:endParaRPr lang="en-US" sz="1400" dirty="0"/>
          </a:p>
          <a:p>
            <a:pPr marL="342900" indent="-342900">
              <a:spcAft>
                <a:spcPts val="800"/>
              </a:spcAft>
              <a:buSzPct val="100000"/>
              <a:buChar char="•"/>
            </a:pPr>
            <a:r>
              <a:rPr lang="en-US" sz="1400" dirty="0">
                <a:solidFill>
                  <a:schemeClr val="tx1"/>
                </a:solidFill>
              </a:rPr>
              <a:t>Closing + area filter</a:t>
            </a:r>
            <a:endParaRPr lang="en-US" sz="1400" dirty="0"/>
          </a:p>
          <a:p>
            <a:pPr marL="342900" indent="-342900">
              <a:spcAft>
                <a:spcPts val="800"/>
              </a:spcAft>
              <a:buSzPct val="100000"/>
              <a:buChar char="•"/>
            </a:pPr>
            <a:r>
              <a:rPr lang="en-US" sz="1400" dirty="0">
                <a:solidFill>
                  <a:schemeClr val="tx1"/>
                </a:solidFill>
              </a:rPr>
              <a:t>Zhang–Suen thinning</a:t>
            </a:r>
            <a:endParaRPr lang="en-US" sz="1400" dirty="0"/>
          </a:p>
        </p:txBody>
      </p:sp>
      <p:sp>
        <p:nvSpPr>
          <p:cNvPr id="14" name="Shape 12"/>
          <p:cNvSpPr/>
          <p:nvPr/>
        </p:nvSpPr>
        <p:spPr>
          <a:xfrm>
            <a:off x="5925312" y="3154680"/>
            <a:ext cx="265176" cy="365760"/>
          </a:xfrm>
          <a:prstGeom prst="rightArrow">
            <a:avLst/>
          </a:prstGeom>
          <a:solidFill>
            <a:schemeClr val="accent4"/>
          </a:solidFill>
          <a:ln/>
        </p:spPr>
      </p:sp>
      <p:sp>
        <p:nvSpPr>
          <p:cNvPr id="15" name="Shape 13"/>
          <p:cNvSpPr/>
          <p:nvPr/>
        </p:nvSpPr>
        <p:spPr>
          <a:xfrm>
            <a:off x="6217920" y="1371600"/>
            <a:ext cx="2514600" cy="3931920"/>
          </a:xfrm>
          <a:prstGeom prst="roundRect">
            <a:avLst>
              <a:gd name="adj" fmla="val 2909"/>
            </a:avLst>
          </a:prstGeom>
          <a:solidFill>
            <a:schemeClr val="bg2"/>
          </a:solidFill>
          <a:ln/>
        </p:spPr>
      </p:sp>
      <p:sp>
        <p:nvSpPr>
          <p:cNvPr id="16" name="Shape 14"/>
          <p:cNvSpPr/>
          <p:nvPr/>
        </p:nvSpPr>
        <p:spPr>
          <a:xfrm>
            <a:off x="6446520" y="1600200"/>
            <a:ext cx="640080" cy="640080"/>
          </a:xfrm>
          <a:prstGeom prst="ellipse">
            <a:avLst/>
          </a:prstGeom>
          <a:solidFill>
            <a:schemeClr val="accent2"/>
          </a:solidFill>
          <a:ln/>
        </p:spPr>
      </p:sp>
      <p:sp>
        <p:nvSpPr>
          <p:cNvPr id="17" name="Text 15"/>
          <p:cNvSpPr txBox="1"/>
          <p:nvPr/>
        </p:nvSpPr>
        <p:spPr>
          <a:xfrm>
            <a:off x="644652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C</a:t>
            </a:r>
            <a:endParaRPr lang="en-US" sz="2200" dirty="0"/>
          </a:p>
        </p:txBody>
      </p:sp>
      <p:sp>
        <p:nvSpPr>
          <p:cNvPr id="18" name="Text 16"/>
          <p:cNvSpPr txBox="1"/>
          <p:nvPr/>
        </p:nvSpPr>
        <p:spPr>
          <a:xfrm>
            <a:off x="7223760" y="1600200"/>
            <a:ext cx="1463040" cy="640080"/>
          </a:xfrm>
          <a:prstGeom prst="rect">
            <a:avLst/>
          </a:prstGeom>
          <a:noFill/>
          <a:ln/>
        </p:spPr>
        <p:txBody>
          <a:bodyPr wrap="square" lIns="0" tIns="0" rIns="0" bIns="0" rtlCol="0" anchor="ctr"/>
          <a:lstStyle/>
          <a:p>
            <a:pPr indent="0" marL="0">
              <a:buNone/>
            </a:pPr>
            <a:r>
              <a:rPr lang="en-US" sz="1800" b="1" dirty="0">
                <a:solidFill>
                  <a:schemeClr val="tx2"/>
                </a:solidFill>
              </a:rPr>
              <a:t>Measure</a:t>
            </a:r>
            <a:endParaRPr lang="en-US" sz="1800" dirty="0"/>
          </a:p>
        </p:txBody>
      </p:sp>
      <p:sp>
        <p:nvSpPr>
          <p:cNvPr id="19" name="Text 17"/>
          <p:cNvSpPr txBox="1"/>
          <p:nvPr/>
        </p:nvSpPr>
        <p:spPr>
          <a:xfrm>
            <a:off x="6400800" y="2468880"/>
            <a:ext cx="21945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M6 Vessel density</a:t>
            </a:r>
            <a:endParaRPr lang="en-US" sz="1400" dirty="0"/>
          </a:p>
          <a:p>
            <a:pPr marL="342900" indent="-342900">
              <a:spcAft>
                <a:spcPts val="800"/>
              </a:spcAft>
              <a:buSzPct val="100000"/>
              <a:buChar char="•"/>
            </a:pPr>
            <a:r>
              <a:rPr lang="en-US" sz="1400" dirty="0">
                <a:solidFill>
                  <a:schemeClr val="tx1"/>
                </a:solidFill>
              </a:rPr>
              <a:t>Tortuosity (arc/chord)</a:t>
            </a:r>
            <a:endParaRPr lang="en-US" sz="1400" dirty="0"/>
          </a:p>
          <a:p>
            <a:pPr marL="342900" indent="-342900">
              <a:spcAft>
                <a:spcPts val="800"/>
              </a:spcAft>
              <a:buSzPct val="100000"/>
              <a:buChar char="•"/>
            </a:pPr>
            <a:r>
              <a:rPr lang="en-US" sz="1400" dirty="0">
                <a:solidFill>
                  <a:schemeClr val="tx1"/>
                </a:solidFill>
              </a:rPr>
              <a:t>Branch points</a:t>
            </a:r>
            <a:endParaRPr lang="en-US" sz="1400" dirty="0"/>
          </a:p>
          <a:p>
            <a:pPr marL="342900" indent="-342900">
              <a:spcAft>
                <a:spcPts val="800"/>
              </a:spcAft>
              <a:buSzPct val="100000"/>
              <a:buChar char="•"/>
            </a:pPr>
            <a:r>
              <a:rPr lang="en-US" sz="1400" dirty="0">
                <a:solidFill>
                  <a:schemeClr val="tx1"/>
                </a:solidFill>
              </a:rPr>
              <a:t>GLCM contrast · homogeneity · energy</a:t>
            </a:r>
            <a:endParaRPr lang="en-US" sz="1400" dirty="0"/>
          </a:p>
        </p:txBody>
      </p:sp>
      <p:sp>
        <p:nvSpPr>
          <p:cNvPr id="20" name="Shape 18"/>
          <p:cNvSpPr/>
          <p:nvPr/>
        </p:nvSpPr>
        <p:spPr>
          <a:xfrm>
            <a:off x="8759952" y="3154680"/>
            <a:ext cx="265176" cy="365760"/>
          </a:xfrm>
          <a:prstGeom prst="rightArrow">
            <a:avLst/>
          </a:prstGeom>
          <a:solidFill>
            <a:schemeClr val="accent4"/>
          </a:solidFill>
          <a:ln/>
        </p:spPr>
      </p:sp>
      <p:sp>
        <p:nvSpPr>
          <p:cNvPr id="21" name="Shape 19"/>
          <p:cNvSpPr/>
          <p:nvPr/>
        </p:nvSpPr>
        <p:spPr>
          <a:xfrm>
            <a:off x="9052560" y="1371600"/>
            <a:ext cx="2514600" cy="3931920"/>
          </a:xfrm>
          <a:prstGeom prst="roundRect">
            <a:avLst>
              <a:gd name="adj" fmla="val 2909"/>
            </a:avLst>
          </a:prstGeom>
          <a:solidFill>
            <a:schemeClr val="bg2"/>
          </a:solidFill>
          <a:ln/>
        </p:spPr>
      </p:sp>
      <p:sp>
        <p:nvSpPr>
          <p:cNvPr id="22" name="Shape 20"/>
          <p:cNvSpPr/>
          <p:nvPr/>
        </p:nvSpPr>
        <p:spPr>
          <a:xfrm>
            <a:off x="9281160" y="1600200"/>
            <a:ext cx="640080" cy="640080"/>
          </a:xfrm>
          <a:prstGeom prst="ellipse">
            <a:avLst/>
          </a:prstGeom>
          <a:solidFill>
            <a:schemeClr val="tx2"/>
          </a:solidFill>
          <a:ln/>
        </p:spPr>
      </p:sp>
      <p:sp>
        <p:nvSpPr>
          <p:cNvPr id="23" name="Text 21"/>
          <p:cNvSpPr txBox="1"/>
          <p:nvPr/>
        </p:nvSpPr>
        <p:spPr>
          <a:xfrm>
            <a:off x="928116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24" name="Text 22"/>
          <p:cNvSpPr txBox="1"/>
          <p:nvPr/>
        </p:nvSpPr>
        <p:spPr>
          <a:xfrm>
            <a:off x="10058400" y="1600200"/>
            <a:ext cx="1463040" cy="640080"/>
          </a:xfrm>
          <a:prstGeom prst="rect">
            <a:avLst/>
          </a:prstGeom>
          <a:noFill/>
          <a:ln/>
        </p:spPr>
        <p:txBody>
          <a:bodyPr wrap="square" lIns="0" tIns="0" rIns="0" bIns="0" rtlCol="0" anchor="ctr"/>
          <a:lstStyle/>
          <a:p>
            <a:pPr indent="0" marL="0">
              <a:buNone/>
            </a:pPr>
            <a:r>
              <a:rPr lang="en-US" sz="1800" b="1" dirty="0">
                <a:solidFill>
                  <a:schemeClr val="tx2"/>
                </a:solidFill>
              </a:rPr>
              <a:t>Fuse &amp; validate</a:t>
            </a:r>
            <a:endParaRPr lang="en-US" sz="1800" dirty="0"/>
          </a:p>
        </p:txBody>
      </p:sp>
      <p:sp>
        <p:nvSpPr>
          <p:cNvPr id="25" name="Text 23"/>
          <p:cNvSpPr txBox="1"/>
          <p:nvPr/>
        </p:nvSpPr>
        <p:spPr>
          <a:xfrm>
            <a:off x="9235440" y="2468880"/>
            <a:ext cx="21945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M7 Normalise to 0–1</a:t>
            </a:r>
            <a:endParaRPr lang="en-US" sz="1400" dirty="0"/>
          </a:p>
          <a:p>
            <a:pPr marL="342900" indent="-342900">
              <a:spcAft>
                <a:spcPts val="800"/>
              </a:spcAft>
              <a:buSzPct val="100000"/>
              <a:buChar char="•"/>
            </a:pPr>
            <a:r>
              <a:rPr lang="en-US" sz="1400" dirty="0">
                <a:solidFill>
                  <a:schemeClr val="tx1"/>
                </a:solidFill>
              </a:rPr>
              <a:t>Score = Σ wᵢ · fᵢ</a:t>
            </a:r>
            <a:endParaRPr lang="en-US" sz="1400" dirty="0"/>
          </a:p>
          <a:p>
            <a:pPr marL="342900" indent="-342900">
              <a:spcAft>
                <a:spcPts val="800"/>
              </a:spcAft>
              <a:buSzPct val="100000"/>
              <a:buChar char="•"/>
            </a:pPr>
            <a:r>
              <a:rPr lang="en-US" sz="1400" dirty="0">
                <a:solidFill>
                  <a:schemeClr val="tx1"/>
                </a:solidFill>
              </a:rPr>
              <a:t>Low / Medium / High</a:t>
            </a:r>
            <a:endParaRPr lang="en-US" sz="1400" dirty="0"/>
          </a:p>
          <a:p>
            <a:pPr marL="342900" indent="-342900">
              <a:spcAft>
                <a:spcPts val="800"/>
              </a:spcAft>
              <a:buSzPct val="100000"/>
              <a:buChar char="•"/>
            </a:pPr>
            <a:r>
              <a:rPr lang="en-US" sz="1400" dirty="0">
                <a:solidFill>
                  <a:schemeClr val="tx1"/>
                </a:solidFill>
              </a:rPr>
              <a:t>Se · Sp · Acc · Dice · Jaccard</a:t>
            </a:r>
            <a:endParaRPr lang="en-US" sz="1400" dirty="0"/>
          </a:p>
        </p:txBody>
      </p:sp>
      <p:sp>
        <p:nvSpPr>
          <p:cNvPr id="26" name="Text 24"/>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500" b="1" dirty="0">
                <a:solidFill>
                  <a:srgbClr val="14213D"/>
                </a:solidFill>
              </a:rPr>
              <a:t>Input: </a:t>
            </a:r>
            <a:pPr indent="0" marL="0">
              <a:buNone/>
            </a:pPr>
            <a:r>
              <a:rPr lang="en-US" sz="1500" dirty="0">
                <a:solidFill>
                  <a:schemeClr val="tx1"/>
                </a:solidFill>
              </a:rPr>
              <a:t>one colour fundus photograph.   </a:t>
            </a:r>
            <a:pPr indent="0" marL="0">
              <a:buNone/>
            </a:pPr>
            <a:r>
              <a:rPr lang="en-US" sz="1500" b="1" dirty="0">
                <a:solidFill>
                  <a:srgbClr val="14213D"/>
                </a:solidFill>
              </a:rPr>
              <a:t>Output: </a:t>
            </a:r>
            <a:pPr indent="0" marL="0">
              <a:buNone/>
            </a:pPr>
            <a:r>
              <a:rPr lang="en-US" sz="1500" dirty="0">
                <a:solidFill>
                  <a:schemeClr val="tx1"/>
                </a:solidFill>
              </a:rPr>
              <a:t>vessel mask, skeleton, six features and a graded risk with per-feature contributions.   </a:t>
            </a:r>
            <a:pPr indent="0" marL="0">
              <a:buNone/>
            </a:pPr>
            <a:r>
              <a:rPr lang="en-US" sz="1500" b="1" dirty="0">
                <a:solidFill>
                  <a:srgbClr val="14213D"/>
                </a:solidFill>
              </a:rPr>
              <a:t>Runtime: </a:t>
            </a:r>
            <a:pPr indent="0" marL="0">
              <a:buNone/>
            </a:pPr>
            <a:r>
              <a:rPr lang="en-US" sz="1500" dirty="0">
                <a:solidFill>
                  <a:schemeClr val="tx1"/>
                </a:solidFill>
              </a:rPr>
              <a:t>≈0.5 s per image on a laptop CPU.</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Stage A — preparing the image (Modules 1–4)</a:t>
            </a:r>
            <a:endParaRPr lang="en-US" sz="3000" dirty="0"/>
          </a:p>
        </p:txBody>
      </p:sp>
      <p:pic>
        <p:nvPicPr>
          <p:cNvPr id="3" name="Image 0" descr="/home/user/dip_project/presentation/assets/green.png">    </p:cNvPr>
          <p:cNvPicPr>
            <a:picLocks noChangeAspect="1"/>
          </p:cNvPicPr>
          <p:nvPr/>
        </p:nvPicPr>
        <p:blipFill>
          <a:blip r:embed="rId1"/>
          <a:stretch>
            <a:fillRect/>
          </a:stretch>
        </p:blipFill>
        <p:spPr>
          <a:xfrm>
            <a:off x="548640" y="1325880"/>
            <a:ext cx="2606040" cy="2693677"/>
          </a:xfrm>
          <a:prstGeom prst="rect">
            <a:avLst/>
          </a:prstGeom>
        </p:spPr>
      </p:pic>
      <p:sp>
        <p:nvSpPr>
          <p:cNvPr id="4" name="Text 1"/>
          <p:cNvSpPr txBox="1"/>
          <p:nvPr/>
        </p:nvSpPr>
        <p:spPr>
          <a:xfrm>
            <a:off x="548640" y="4114800"/>
            <a:ext cx="2606040" cy="411480"/>
          </a:xfrm>
          <a:prstGeom prst="rect">
            <a:avLst/>
          </a:prstGeom>
          <a:noFill/>
          <a:ln/>
        </p:spPr>
        <p:txBody>
          <a:bodyPr wrap="square" lIns="0" tIns="0" rIns="0" bIns="0" rtlCol="0" anchor="t"/>
          <a:lstStyle/>
          <a:p>
            <a:pPr indent="0" marL="0">
              <a:buNone/>
            </a:pPr>
            <a:r>
              <a:rPr lang="en-US" sz="1800" b="1" dirty="0">
                <a:solidFill>
                  <a:schemeClr val="tx2"/>
                </a:solidFill>
              </a:rPr>
              <a:t>M1 Green channel</a:t>
            </a:r>
            <a:endParaRPr lang="en-US" sz="1800" dirty="0"/>
          </a:p>
        </p:txBody>
      </p:sp>
      <p:sp>
        <p:nvSpPr>
          <p:cNvPr id="5" name="Text 2"/>
          <p:cNvSpPr txBox="1"/>
          <p:nvPr/>
        </p:nvSpPr>
        <p:spPr>
          <a:xfrm>
            <a:off x="548640" y="4526280"/>
            <a:ext cx="2606040" cy="1645920"/>
          </a:xfrm>
          <a:prstGeom prst="rect">
            <a:avLst/>
          </a:prstGeom>
          <a:noFill/>
          <a:ln/>
        </p:spPr>
        <p:txBody>
          <a:bodyPr wrap="square" lIns="0" tIns="0" rIns="0" bIns="0" rtlCol="0" anchor="t"/>
          <a:lstStyle/>
          <a:p>
            <a:pPr indent="0" marL="0">
              <a:buNone/>
            </a:pPr>
            <a:r>
              <a:rPr lang="en-US" sz="1400" dirty="0">
                <a:solidFill>
                  <a:schemeClr val="tx1"/>
                </a:solidFill>
              </a:rPr>
              <a:t>Haemoglobin absorbs green → best vessel contrast. FOV from Otsu on red (99.6% agreement with DRIVE masks).</a:t>
            </a:r>
            <a:endParaRPr lang="en-US" sz="1400" dirty="0"/>
          </a:p>
        </p:txBody>
      </p:sp>
      <p:pic>
        <p:nvPicPr>
          <p:cNvPr id="6" name="Image 1" descr="/home/user/dip_project/presentation/assets/clahe.png">    </p:cNvPr>
          <p:cNvPicPr>
            <a:picLocks noChangeAspect="1"/>
          </p:cNvPicPr>
          <p:nvPr/>
        </p:nvPicPr>
        <p:blipFill>
          <a:blip r:embed="rId2"/>
          <a:stretch>
            <a:fillRect/>
          </a:stretch>
        </p:blipFill>
        <p:spPr>
          <a:xfrm>
            <a:off x="3383280" y="1325880"/>
            <a:ext cx="2606040" cy="2693677"/>
          </a:xfrm>
          <a:prstGeom prst="rect">
            <a:avLst/>
          </a:prstGeom>
        </p:spPr>
      </p:pic>
      <p:sp>
        <p:nvSpPr>
          <p:cNvPr id="7" name="Text 3"/>
          <p:cNvSpPr txBox="1"/>
          <p:nvPr/>
        </p:nvSpPr>
        <p:spPr>
          <a:xfrm>
            <a:off x="3383280" y="4114800"/>
            <a:ext cx="2606040" cy="411480"/>
          </a:xfrm>
          <a:prstGeom prst="rect">
            <a:avLst/>
          </a:prstGeom>
          <a:noFill/>
          <a:ln/>
        </p:spPr>
        <p:txBody>
          <a:bodyPr wrap="square" lIns="0" tIns="0" rIns="0" bIns="0" rtlCol="0" anchor="t"/>
          <a:lstStyle/>
          <a:p>
            <a:pPr indent="0" marL="0">
              <a:buNone/>
            </a:pPr>
            <a:r>
              <a:rPr lang="en-US" sz="1800" b="1" dirty="0">
                <a:solidFill>
                  <a:schemeClr val="tx2"/>
                </a:solidFill>
              </a:rPr>
              <a:t>M2 CLAHE</a:t>
            </a:r>
            <a:endParaRPr lang="en-US" sz="1800" dirty="0"/>
          </a:p>
        </p:txBody>
      </p:sp>
      <p:sp>
        <p:nvSpPr>
          <p:cNvPr id="8" name="Text 4"/>
          <p:cNvSpPr txBox="1"/>
          <p:nvPr/>
        </p:nvSpPr>
        <p:spPr>
          <a:xfrm>
            <a:off x="3383280" y="4526280"/>
            <a:ext cx="2606040" cy="1645920"/>
          </a:xfrm>
          <a:prstGeom prst="rect">
            <a:avLst/>
          </a:prstGeom>
          <a:noFill/>
          <a:ln/>
        </p:spPr>
        <p:txBody>
          <a:bodyPr wrap="square" lIns="0" tIns="0" rIns="0" bIns="0" rtlCol="0" anchor="t"/>
          <a:lstStyle/>
          <a:p>
            <a:pPr indent="0" marL="0">
              <a:buNone/>
            </a:pPr>
            <a:r>
              <a:rPr lang="en-US" sz="1400" dirty="0">
                <a:solidFill>
                  <a:schemeClr val="tx1"/>
                </a:solidFill>
              </a:rPr>
              <a:t>8×8 tiles, clip 3.0. Local equalisation avoids blowing out the bright optic disc.</a:t>
            </a:r>
            <a:endParaRPr lang="en-US" sz="1400" dirty="0"/>
          </a:p>
        </p:txBody>
      </p:sp>
      <p:pic>
        <p:nvPicPr>
          <p:cNvPr id="9" name="Image 2" descr="/home/user/dip_project/presentation/assets/hef.png">    </p:cNvPr>
          <p:cNvPicPr>
            <a:picLocks noChangeAspect="1"/>
          </p:cNvPicPr>
          <p:nvPr/>
        </p:nvPicPr>
        <p:blipFill>
          <a:blip r:embed="rId3"/>
          <a:stretch>
            <a:fillRect/>
          </a:stretch>
        </p:blipFill>
        <p:spPr>
          <a:xfrm>
            <a:off x="6217920" y="1325880"/>
            <a:ext cx="2606040" cy="2693677"/>
          </a:xfrm>
          <a:prstGeom prst="rect">
            <a:avLst/>
          </a:prstGeom>
        </p:spPr>
      </p:pic>
      <p:sp>
        <p:nvSpPr>
          <p:cNvPr id="10" name="Text 5"/>
          <p:cNvSpPr txBox="1"/>
          <p:nvPr/>
        </p:nvSpPr>
        <p:spPr>
          <a:xfrm>
            <a:off x="6217920" y="4114800"/>
            <a:ext cx="2606040" cy="411480"/>
          </a:xfrm>
          <a:prstGeom prst="rect">
            <a:avLst/>
          </a:prstGeom>
          <a:noFill/>
          <a:ln/>
        </p:spPr>
        <p:txBody>
          <a:bodyPr wrap="square" lIns="0" tIns="0" rIns="0" bIns="0" rtlCol="0" anchor="t"/>
          <a:lstStyle/>
          <a:p>
            <a:pPr indent="0" marL="0">
              <a:buNone/>
            </a:pPr>
            <a:r>
              <a:rPr lang="en-US" sz="1800" b="1" dirty="0">
                <a:solidFill>
                  <a:schemeClr val="tx2"/>
                </a:solidFill>
              </a:rPr>
              <a:t>M3 DFT filter</a:t>
            </a:r>
            <a:endParaRPr lang="en-US" sz="1800" dirty="0"/>
          </a:p>
        </p:txBody>
      </p:sp>
      <p:sp>
        <p:nvSpPr>
          <p:cNvPr id="11" name="Text 6"/>
          <p:cNvSpPr txBox="1"/>
          <p:nvPr/>
        </p:nvSpPr>
        <p:spPr>
          <a:xfrm>
            <a:off x="6217920" y="4526280"/>
            <a:ext cx="2606040" cy="1645920"/>
          </a:xfrm>
          <a:prstGeom prst="rect">
            <a:avLst/>
          </a:prstGeom>
          <a:noFill/>
          <a:ln/>
        </p:spPr>
        <p:txBody>
          <a:bodyPr wrap="square" lIns="0" tIns="0" rIns="0" bIns="0" rtlCol="0" anchor="t"/>
          <a:lstStyle/>
          <a:p>
            <a:pPr indent="0" marL="0">
              <a:buNone/>
            </a:pPr>
            <a:r>
              <a:rPr lang="en-US" sz="1400" dirty="0">
                <a:solidFill>
                  <a:schemeClr val="tx1"/>
                </a:solidFill>
              </a:rPr>
              <a:t>High-emphasis H(u,v) = a + b·H_HP, a = 0.5, b = 1.5, Gaussian D₀ = 15. Sharpens thin-vessel edges.</a:t>
            </a:r>
            <a:endParaRPr lang="en-US" sz="1400" dirty="0"/>
          </a:p>
        </p:txBody>
      </p:sp>
      <p:pic>
        <p:nvPicPr>
          <p:cNvPr id="12" name="Image 3" descr="/home/user/dip_project/presentation/assets/restored.png">    </p:cNvPr>
          <p:cNvPicPr>
            <a:picLocks noChangeAspect="1"/>
          </p:cNvPicPr>
          <p:nvPr/>
        </p:nvPicPr>
        <p:blipFill>
          <a:blip r:embed="rId4"/>
          <a:stretch>
            <a:fillRect/>
          </a:stretch>
        </p:blipFill>
        <p:spPr>
          <a:xfrm>
            <a:off x="9052560" y="1325880"/>
            <a:ext cx="2606040" cy="2693677"/>
          </a:xfrm>
          <a:prstGeom prst="rect">
            <a:avLst/>
          </a:prstGeom>
        </p:spPr>
      </p:pic>
      <p:sp>
        <p:nvSpPr>
          <p:cNvPr id="13" name="Text 7"/>
          <p:cNvSpPr txBox="1"/>
          <p:nvPr/>
        </p:nvSpPr>
        <p:spPr>
          <a:xfrm>
            <a:off x="9052560" y="4114800"/>
            <a:ext cx="2606040" cy="411480"/>
          </a:xfrm>
          <a:prstGeom prst="rect">
            <a:avLst/>
          </a:prstGeom>
          <a:noFill/>
          <a:ln/>
        </p:spPr>
        <p:txBody>
          <a:bodyPr wrap="square" lIns="0" tIns="0" rIns="0" bIns="0" rtlCol="0" anchor="t"/>
          <a:lstStyle/>
          <a:p>
            <a:pPr indent="0" marL="0">
              <a:buNone/>
            </a:pPr>
            <a:r>
              <a:rPr lang="en-US" sz="1800" b="1" dirty="0">
                <a:solidFill>
                  <a:schemeClr val="tx2"/>
                </a:solidFill>
              </a:rPr>
              <a:t>M4 Restoration</a:t>
            </a:r>
            <a:endParaRPr lang="en-US" sz="1800" dirty="0"/>
          </a:p>
        </p:txBody>
      </p:sp>
      <p:sp>
        <p:nvSpPr>
          <p:cNvPr id="14" name="Text 8"/>
          <p:cNvSpPr txBox="1"/>
          <p:nvPr/>
        </p:nvSpPr>
        <p:spPr>
          <a:xfrm>
            <a:off x="9052560" y="4526280"/>
            <a:ext cx="2606040" cy="1645920"/>
          </a:xfrm>
          <a:prstGeom prst="rect">
            <a:avLst/>
          </a:prstGeom>
          <a:noFill/>
          <a:ln/>
        </p:spPr>
        <p:txBody>
          <a:bodyPr wrap="square" lIns="0" tIns="0" rIns="0" bIns="0" rtlCol="0" anchor="t"/>
          <a:lstStyle/>
          <a:p>
            <a:pPr indent="0" marL="0">
              <a:buNone/>
            </a:pPr>
            <a:r>
              <a:rPr lang="en-US" sz="1400" dirty="0">
                <a:solidFill>
                  <a:schemeClr val="tx1"/>
                </a:solidFill>
              </a:rPr>
              <a:t>g = f·L + n: divide by a 51×51 median background, then 3×3 median for impulse noise.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Stage B — multi-scale Frangi (Module 5)</a:t>
            </a:r>
            <a:endParaRPr lang="en-US" sz="3000" dirty="0"/>
          </a:p>
        </p:txBody>
      </p:sp>
      <p:sp>
        <p:nvSpPr>
          <p:cNvPr id="3" name="Shape 1"/>
          <p:cNvSpPr/>
          <p:nvPr/>
        </p:nvSpPr>
        <p:spPr>
          <a:xfrm>
            <a:off x="548640" y="1325880"/>
            <a:ext cx="4480560" cy="4800600"/>
          </a:xfrm>
          <a:prstGeom prst="roundRect">
            <a:avLst>
              <a:gd name="adj" fmla="val 1633"/>
            </a:avLst>
          </a:prstGeom>
          <a:solidFill>
            <a:schemeClr val="bg2"/>
          </a:solidFill>
          <a:ln/>
        </p:spPr>
      </p:sp>
      <p:sp>
        <p:nvSpPr>
          <p:cNvPr id="4" name="Text 2"/>
          <p:cNvSpPr txBox="1"/>
          <p:nvPr/>
        </p:nvSpPr>
        <p:spPr>
          <a:xfrm>
            <a:off x="777240" y="1463040"/>
            <a:ext cx="4023360" cy="365760"/>
          </a:xfrm>
          <a:prstGeom prst="rect">
            <a:avLst/>
          </a:prstGeom>
          <a:noFill/>
          <a:ln/>
        </p:spPr>
        <p:txBody>
          <a:bodyPr wrap="square" lIns="0" tIns="0" rIns="0" bIns="0" rtlCol="0" anchor="t"/>
          <a:lstStyle/>
          <a:p>
            <a:pPr indent="0" marL="0">
              <a:buNone/>
            </a:pPr>
            <a:r>
              <a:rPr lang="en-US" sz="1700" b="1" dirty="0">
                <a:solidFill>
                  <a:schemeClr val="tx2"/>
                </a:solidFill>
              </a:rPr>
              <a:t>Hessian per pixel, per scale σ</a:t>
            </a:r>
            <a:endParaRPr lang="en-US" sz="1700" dirty="0"/>
          </a:p>
        </p:txBody>
      </p:sp>
      <p:sp>
        <p:nvSpPr>
          <p:cNvPr id="5" name="Text 3"/>
          <p:cNvSpPr txBox="1"/>
          <p:nvPr/>
        </p:nvSpPr>
        <p:spPr>
          <a:xfrm>
            <a:off x="777240" y="1874520"/>
            <a:ext cx="4023360" cy="365760"/>
          </a:xfrm>
          <a:prstGeom prst="rect">
            <a:avLst/>
          </a:prstGeom>
          <a:noFill/>
          <a:ln/>
        </p:spPr>
        <p:txBody>
          <a:bodyPr wrap="square" lIns="0" tIns="0" rIns="0" bIns="0" rtlCol="0" anchor="t"/>
          <a:lstStyle/>
          <a:p>
            <a:pPr indent="0" marL="0">
              <a:buNone/>
            </a:pPr>
            <a:r>
              <a:rPr lang="en-US" sz="1400" dirty="0">
                <a:solidFill>
                  <a:schemeClr val="tx1"/>
                </a:solidFill>
              </a:rPr>
              <a:t>Eigenvalues |λ₁| ≤ |λ₂|, Rᵦ = λ₁/λ₂, S = √(λ₁² + λ₂²)</a:t>
            </a:r>
            <a:endParaRPr lang="en-US" sz="1400" dirty="0"/>
          </a:p>
        </p:txBody>
      </p:sp>
      <p:sp>
        <p:nvSpPr>
          <p:cNvPr id="6" name="Shape 4"/>
          <p:cNvSpPr/>
          <p:nvPr/>
        </p:nvSpPr>
        <p:spPr>
          <a:xfrm>
            <a:off x="777240" y="2331720"/>
            <a:ext cx="4023360" cy="777240"/>
          </a:xfrm>
          <a:prstGeom prst="roundRect">
            <a:avLst>
              <a:gd name="adj" fmla="val 9412"/>
            </a:avLst>
          </a:prstGeom>
          <a:solidFill>
            <a:schemeClr val="bg1"/>
          </a:solidFill>
          <a:ln/>
        </p:spPr>
      </p:sp>
      <p:sp>
        <p:nvSpPr>
          <p:cNvPr id="7" name="Text 5"/>
          <p:cNvSpPr txBox="1"/>
          <p:nvPr/>
        </p:nvSpPr>
        <p:spPr>
          <a:xfrm>
            <a:off x="868680" y="2331720"/>
            <a:ext cx="3840480" cy="777240"/>
          </a:xfrm>
          <a:prstGeom prst="rect">
            <a:avLst/>
          </a:prstGeom>
          <a:noFill/>
          <a:ln/>
        </p:spPr>
        <p:txBody>
          <a:bodyPr wrap="square" lIns="0" tIns="0" rIns="0" bIns="0" rtlCol="0" anchor="ctr"/>
          <a:lstStyle/>
          <a:p>
            <a:pPr algn="ctr" indent="0" marL="0">
              <a:buNone/>
            </a:pPr>
            <a:r>
              <a:rPr lang="en-US" sz="1400" b="1" dirty="0">
                <a:solidFill>
                  <a:schemeClr val="accent1"/>
                </a:solidFill>
              </a:rPr>
              <a:t>V(σ) = exp(−Rᵦ² / 2β²) · (1 − exp(−S² / 2c²))</a:t>
            </a:r>
            <a:endParaRPr lang="en-US" sz="1400" dirty="0"/>
          </a:p>
        </p:txBody>
      </p:sp>
      <p:sp>
        <p:nvSpPr>
          <p:cNvPr id="8" name="Text 6"/>
          <p:cNvSpPr txBox="1"/>
          <p:nvPr/>
        </p:nvSpPr>
        <p:spPr>
          <a:xfrm>
            <a:off x="777240" y="3291840"/>
            <a:ext cx="406908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σ = 1, 1.5, 2, 2.5, 3 → keep the max response</a:t>
            </a:r>
            <a:endParaRPr lang="en-US" sz="1500" dirty="0"/>
          </a:p>
          <a:p>
            <a:pPr marL="342900" indent="-342900">
              <a:spcAft>
                <a:spcPts val="800"/>
              </a:spcAft>
              <a:buSzPct val="100000"/>
              <a:buChar char="•"/>
            </a:pPr>
            <a:r>
              <a:rPr lang="en-US" sz="1500" dirty="0">
                <a:solidFill>
                  <a:schemeClr val="tx1"/>
                </a:solidFill>
              </a:rPr>
              <a:t>β = 0.5, c = 15 (best on training split)</a:t>
            </a:r>
            <a:endParaRPr lang="en-US" sz="1500" dirty="0"/>
          </a:p>
          <a:p>
            <a:pPr marL="342900" indent="-342900">
              <a:spcAft>
                <a:spcPts val="800"/>
              </a:spcAft>
              <a:buSzPct val="100000"/>
              <a:buChar char="•"/>
            </a:pPr>
            <a:r>
              <a:rPr lang="en-US" sz="1500" dirty="0">
                <a:solidFill>
                  <a:schemeClr val="tx1"/>
                </a:solidFill>
              </a:rPr>
              <a:t>λ₂ &gt; 0 only: vessels are dark in green</a:t>
            </a:r>
            <a:endParaRPr lang="en-US" sz="1500" dirty="0"/>
          </a:p>
          <a:p>
            <a:pPr marL="342900" indent="-342900">
              <a:spcAft>
                <a:spcPts val="800"/>
              </a:spcAft>
              <a:buSzPct val="100000"/>
              <a:buChar char="•"/>
            </a:pPr>
            <a:r>
              <a:rPr lang="en-US" sz="1500" dirty="0">
                <a:solidFill>
                  <a:schemeClr val="tx1"/>
                </a:solidFill>
              </a:rPr>
              <a:t>Otsu on V^0.7, closing (disc 1), drop blobs &lt; 60 px</a:t>
            </a:r>
            <a:endParaRPr lang="en-US" sz="1500" dirty="0"/>
          </a:p>
          <a:p>
            <a:pPr marL="342900" indent="-342900">
              <a:spcAft>
                <a:spcPts val="800"/>
              </a:spcAft>
              <a:buSzPct val="100000"/>
              <a:buChar char="•"/>
            </a:pPr>
            <a:r>
              <a:rPr lang="en-US" sz="1500" dirty="0">
                <a:solidFill>
                  <a:schemeClr val="tx1"/>
                </a:solidFill>
              </a:rPr>
              <a:t>Zhang–Suen thinning → 1-px centreline</a:t>
            </a:r>
            <a:endParaRPr lang="en-US" sz="1500" dirty="0"/>
          </a:p>
        </p:txBody>
      </p:sp>
      <p:pic>
        <p:nvPicPr>
          <p:cNvPr id="9" name="Image 0" descr="/home/user/dip_project/presentation/assets/vesselness.png">    </p:cNvPr>
          <p:cNvPicPr>
            <a:picLocks noChangeAspect="1"/>
          </p:cNvPicPr>
          <p:nvPr/>
        </p:nvPicPr>
        <p:blipFill>
          <a:blip r:embed="rId1"/>
          <a:stretch>
            <a:fillRect/>
          </a:stretch>
        </p:blipFill>
        <p:spPr>
          <a:xfrm>
            <a:off x="5303520" y="2103120"/>
            <a:ext cx="2011680" cy="2079329"/>
          </a:xfrm>
          <a:prstGeom prst="rect">
            <a:avLst/>
          </a:prstGeom>
        </p:spPr>
      </p:pic>
      <p:sp>
        <p:nvSpPr>
          <p:cNvPr id="10" name="Text 7"/>
          <p:cNvSpPr txBox="1"/>
          <p:nvPr/>
        </p:nvSpPr>
        <p:spPr>
          <a:xfrm>
            <a:off x="5303520" y="4251960"/>
            <a:ext cx="2011680" cy="320040"/>
          </a:xfrm>
          <a:prstGeom prst="rect">
            <a:avLst/>
          </a:prstGeom>
          <a:noFill/>
          <a:ln/>
        </p:spPr>
        <p:txBody>
          <a:bodyPr wrap="square" lIns="0" tIns="0" rIns="0" bIns="0" rtlCol="0" anchor="t"/>
          <a:lstStyle/>
          <a:p>
            <a:pPr algn="ctr" indent="0" marL="0">
              <a:buNone/>
            </a:pPr>
            <a:r>
              <a:rPr lang="en-US" sz="1400" b="1" dirty="0">
                <a:solidFill>
                  <a:schemeClr val="tx2"/>
                </a:solidFill>
              </a:rPr>
              <a:t>Vesselness V</a:t>
            </a:r>
            <a:endParaRPr lang="en-US" sz="1400" dirty="0"/>
          </a:p>
        </p:txBody>
      </p:sp>
      <p:pic>
        <p:nvPicPr>
          <p:cNvPr id="11" name="Image 1" descr="/home/user/dip_project/presentation/assets/mask.png">    </p:cNvPr>
          <p:cNvPicPr>
            <a:picLocks noChangeAspect="1"/>
          </p:cNvPicPr>
          <p:nvPr/>
        </p:nvPicPr>
        <p:blipFill>
          <a:blip r:embed="rId2"/>
          <a:stretch>
            <a:fillRect/>
          </a:stretch>
        </p:blipFill>
        <p:spPr>
          <a:xfrm>
            <a:off x="7452360" y="2103120"/>
            <a:ext cx="2011680" cy="2079329"/>
          </a:xfrm>
          <a:prstGeom prst="rect">
            <a:avLst/>
          </a:prstGeom>
        </p:spPr>
      </p:pic>
      <p:sp>
        <p:nvSpPr>
          <p:cNvPr id="12" name="Text 8"/>
          <p:cNvSpPr txBox="1"/>
          <p:nvPr/>
        </p:nvSpPr>
        <p:spPr>
          <a:xfrm>
            <a:off x="7452360" y="4251960"/>
            <a:ext cx="2011680" cy="320040"/>
          </a:xfrm>
          <a:prstGeom prst="rect">
            <a:avLst/>
          </a:prstGeom>
          <a:noFill/>
          <a:ln/>
        </p:spPr>
        <p:txBody>
          <a:bodyPr wrap="square" lIns="0" tIns="0" rIns="0" bIns="0" rtlCol="0" anchor="t"/>
          <a:lstStyle/>
          <a:p>
            <a:pPr algn="ctr" indent="0" marL="0">
              <a:buNone/>
            </a:pPr>
            <a:r>
              <a:rPr lang="en-US" sz="1400" b="1" dirty="0">
                <a:solidFill>
                  <a:schemeClr val="tx2"/>
                </a:solidFill>
              </a:rPr>
              <a:t>Binary mask</a:t>
            </a:r>
            <a:endParaRPr lang="en-US" sz="1400" dirty="0"/>
          </a:p>
        </p:txBody>
      </p:sp>
      <p:pic>
        <p:nvPicPr>
          <p:cNvPr id="13" name="Image 2" descr="/home/user/dip_project/presentation/assets/skeleton.png">    </p:cNvPr>
          <p:cNvPicPr>
            <a:picLocks noChangeAspect="1"/>
          </p:cNvPicPr>
          <p:nvPr/>
        </p:nvPicPr>
        <p:blipFill>
          <a:blip r:embed="rId3"/>
          <a:stretch>
            <a:fillRect/>
          </a:stretch>
        </p:blipFill>
        <p:spPr>
          <a:xfrm>
            <a:off x="9601200" y="2103120"/>
            <a:ext cx="2011680" cy="2079329"/>
          </a:xfrm>
          <a:prstGeom prst="rect">
            <a:avLst/>
          </a:prstGeom>
        </p:spPr>
      </p:pic>
      <p:sp>
        <p:nvSpPr>
          <p:cNvPr id="14" name="Text 9"/>
          <p:cNvSpPr txBox="1"/>
          <p:nvPr/>
        </p:nvSpPr>
        <p:spPr>
          <a:xfrm>
            <a:off x="9601200" y="4251960"/>
            <a:ext cx="2011680" cy="320040"/>
          </a:xfrm>
          <a:prstGeom prst="rect">
            <a:avLst/>
          </a:prstGeom>
          <a:noFill/>
          <a:ln/>
        </p:spPr>
        <p:txBody>
          <a:bodyPr wrap="square" lIns="0" tIns="0" rIns="0" bIns="0" rtlCol="0" anchor="t"/>
          <a:lstStyle/>
          <a:p>
            <a:pPr algn="ctr" indent="0" marL="0">
              <a:buNone/>
            </a:pPr>
            <a:r>
              <a:rPr lang="en-US" sz="1400" b="1" dirty="0">
                <a:solidFill>
                  <a:schemeClr val="tx2"/>
                </a:solidFill>
              </a:rPr>
              <a:t>Skeleton</a:t>
            </a:r>
            <a:endParaRPr lang="en-US" sz="1400" dirty="0"/>
          </a:p>
        </p:txBody>
      </p:sp>
      <p:sp>
        <p:nvSpPr>
          <p:cNvPr id="15" name="Text 10"/>
          <p:cNvSpPr txBox="1"/>
          <p:nvPr/>
        </p:nvSpPr>
        <p:spPr>
          <a:xfrm>
            <a:off x="5303520" y="4754880"/>
            <a:ext cx="6309360" cy="1188720"/>
          </a:xfrm>
          <a:prstGeom prst="rect">
            <a:avLst/>
          </a:prstGeom>
          <a:noFill/>
          <a:ln/>
        </p:spPr>
        <p:txBody>
          <a:bodyPr wrap="square" lIns="0" tIns="0" rIns="0" bIns="0" rtlCol="0" anchor="t"/>
          <a:lstStyle/>
          <a:p>
            <a:pPr indent="0" marL="0">
              <a:buNone/>
            </a:pPr>
            <a:r>
              <a:rPr lang="en-US" sz="1500" dirty="0">
                <a:solidFill>
                  <a:schemeClr val="tx1"/>
                </a:solidFill>
              </a:rPr>
              <a:t>The Hessian responds to tube-shaped structures rather than to edges in general, so thin peripheral vessels survive thresholding. Using several scales captures both capillaries and the main arcades.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Stage C — six measurable features (Module 6)</a:t>
            </a:r>
            <a:endParaRPr lang="en-US" sz="3000" dirty="0"/>
          </a:p>
        </p:txBody>
      </p:sp>
      <p:pic>
        <p:nvPicPr>
          <p:cNvPr id="3" name="Image 0" descr="/home/user/dip_project/presentation/assets/skel_01.png">    </p:cNvPr>
          <p:cNvPicPr>
            <a:picLocks noChangeAspect="1"/>
          </p:cNvPicPr>
          <p:nvPr/>
        </p:nvPicPr>
        <p:blipFill>
          <a:blip r:embed="rId1"/>
          <a:stretch>
            <a:fillRect/>
          </a:stretch>
        </p:blipFill>
        <p:spPr>
          <a:xfrm>
            <a:off x="548640" y="1325880"/>
            <a:ext cx="4379021" cy="4526280"/>
          </a:xfrm>
          <a:prstGeom prst="rect">
            <a:avLst/>
          </a:prstGeom>
        </p:spPr>
      </p:pic>
      <p:sp>
        <p:nvSpPr>
          <p:cNvPr id="4" name="Text 1"/>
          <p:cNvSpPr txBox="1"/>
          <p:nvPr/>
        </p:nvSpPr>
        <p:spPr>
          <a:xfrm>
            <a:off x="548640" y="5943600"/>
            <a:ext cx="4663440" cy="274320"/>
          </a:xfrm>
          <a:prstGeom prst="rect">
            <a:avLst/>
          </a:prstGeom>
          <a:noFill/>
          <a:ln/>
        </p:spPr>
        <p:txBody>
          <a:bodyPr wrap="square" lIns="0" tIns="0" rIns="0" bIns="0" rtlCol="0" anchor="t"/>
          <a:lstStyle/>
          <a:p>
            <a:pPr indent="0" marL="0">
              <a:buNone/>
            </a:pPr>
            <a:r>
              <a:rPr lang="en-US" sz="1100" i="1" dirty="0">
                <a:solidFill>
                  <a:srgbClr val="5B6478"/>
                </a:solidFill>
              </a:rPr>
              <a:t>Cyan: skeleton · Yellow: branch points · Magenta: most tortuous segments</a:t>
            </a:r>
            <a:endParaRPr lang="en-US" sz="1100" dirty="0"/>
          </a:p>
        </p:txBody>
      </p:sp>
      <p:sp>
        <p:nvSpPr>
          <p:cNvPr id="5" name="Shape 2"/>
          <p:cNvSpPr/>
          <p:nvPr/>
        </p:nvSpPr>
        <p:spPr>
          <a:xfrm>
            <a:off x="5669280" y="1325880"/>
            <a:ext cx="2834640" cy="1188720"/>
          </a:xfrm>
          <a:prstGeom prst="roundRect">
            <a:avLst>
              <a:gd name="adj" fmla="val 6154"/>
            </a:avLst>
          </a:prstGeom>
          <a:solidFill>
            <a:schemeClr val="bg2"/>
          </a:solidFill>
          <a:ln/>
        </p:spPr>
      </p:sp>
      <p:sp>
        <p:nvSpPr>
          <p:cNvPr id="6" name="Shape 3"/>
          <p:cNvSpPr/>
          <p:nvPr/>
        </p:nvSpPr>
        <p:spPr>
          <a:xfrm>
            <a:off x="5852160" y="1600200"/>
            <a:ext cx="594360" cy="59436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5994806" y="1742846"/>
            <a:ext cx="309067" cy="309067"/>
          </a:xfrm>
          <a:prstGeom prst="rect">
            <a:avLst/>
          </a:prstGeom>
        </p:spPr>
      </p:pic>
      <p:sp>
        <p:nvSpPr>
          <p:cNvPr id="8" name="Text 4"/>
          <p:cNvSpPr txBox="1"/>
          <p:nvPr/>
        </p:nvSpPr>
        <p:spPr>
          <a:xfrm>
            <a:off x="6583680" y="14630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Vessel density</a:t>
            </a:r>
            <a:endParaRPr lang="en-US" sz="1600" dirty="0"/>
          </a:p>
        </p:txBody>
      </p:sp>
      <p:sp>
        <p:nvSpPr>
          <p:cNvPr id="9" name="Text 5"/>
          <p:cNvSpPr txBox="1"/>
          <p:nvPr/>
        </p:nvSpPr>
        <p:spPr>
          <a:xfrm>
            <a:off x="6583680" y="1874520"/>
            <a:ext cx="1828800" cy="548640"/>
          </a:xfrm>
          <a:prstGeom prst="rect">
            <a:avLst/>
          </a:prstGeom>
          <a:noFill/>
          <a:ln/>
        </p:spPr>
        <p:txBody>
          <a:bodyPr wrap="square" lIns="0" tIns="0" rIns="0" bIns="0" rtlCol="0" anchor="t"/>
          <a:lstStyle/>
          <a:p>
            <a:pPr indent="0" marL="0">
              <a:buNone/>
            </a:pPr>
            <a:r>
              <a:rPr lang="en-US" sz="1300" dirty="0">
                <a:solidFill>
                  <a:schemeClr val="tx1"/>
                </a:solidFill>
              </a:rPr>
              <a:t>vessel px / FOV px</a:t>
            </a:r>
            <a:endParaRPr lang="en-US" sz="1300" dirty="0"/>
          </a:p>
        </p:txBody>
      </p:sp>
      <p:sp>
        <p:nvSpPr>
          <p:cNvPr id="10" name="Shape 6"/>
          <p:cNvSpPr/>
          <p:nvPr/>
        </p:nvSpPr>
        <p:spPr>
          <a:xfrm>
            <a:off x="8686800" y="1325880"/>
            <a:ext cx="2834640" cy="1188720"/>
          </a:xfrm>
          <a:prstGeom prst="roundRect">
            <a:avLst>
              <a:gd name="adj" fmla="val 6154"/>
            </a:avLst>
          </a:prstGeom>
          <a:solidFill>
            <a:schemeClr val="bg2"/>
          </a:solidFill>
          <a:ln/>
        </p:spPr>
      </p:sp>
      <p:sp>
        <p:nvSpPr>
          <p:cNvPr id="11" name="Shape 7"/>
          <p:cNvSpPr/>
          <p:nvPr/>
        </p:nvSpPr>
        <p:spPr>
          <a:xfrm>
            <a:off x="8869680" y="1600200"/>
            <a:ext cx="594360" cy="59436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9012326" y="1742846"/>
            <a:ext cx="309067" cy="309067"/>
          </a:xfrm>
          <a:prstGeom prst="rect">
            <a:avLst/>
          </a:prstGeom>
        </p:spPr>
      </p:pic>
      <p:sp>
        <p:nvSpPr>
          <p:cNvPr id="13" name="Text 8"/>
          <p:cNvSpPr txBox="1"/>
          <p:nvPr/>
        </p:nvSpPr>
        <p:spPr>
          <a:xfrm>
            <a:off x="9601200" y="14630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Tortuosity</a:t>
            </a:r>
            <a:endParaRPr lang="en-US" sz="1600" dirty="0"/>
          </a:p>
        </p:txBody>
      </p:sp>
      <p:sp>
        <p:nvSpPr>
          <p:cNvPr id="14" name="Text 9"/>
          <p:cNvSpPr txBox="1"/>
          <p:nvPr/>
        </p:nvSpPr>
        <p:spPr>
          <a:xfrm>
            <a:off x="9601200" y="1874520"/>
            <a:ext cx="1828800" cy="548640"/>
          </a:xfrm>
          <a:prstGeom prst="rect">
            <a:avLst/>
          </a:prstGeom>
          <a:noFill/>
          <a:ln/>
        </p:spPr>
        <p:txBody>
          <a:bodyPr wrap="square" lIns="0" tIns="0" rIns="0" bIns="0" rtlCol="0" anchor="t"/>
          <a:lstStyle/>
          <a:p>
            <a:pPr indent="0" marL="0">
              <a:buNone/>
            </a:pPr>
            <a:r>
              <a:rPr lang="en-US" sz="1300" dirty="0">
                <a:solidFill>
                  <a:schemeClr val="tx1"/>
                </a:solidFill>
              </a:rPr>
              <a:t>arc length / chord, length-weighted mean</a:t>
            </a:r>
            <a:endParaRPr lang="en-US" sz="1300" dirty="0"/>
          </a:p>
        </p:txBody>
      </p:sp>
      <p:sp>
        <p:nvSpPr>
          <p:cNvPr id="15" name="Shape 10"/>
          <p:cNvSpPr/>
          <p:nvPr/>
        </p:nvSpPr>
        <p:spPr>
          <a:xfrm>
            <a:off x="5669280" y="2697480"/>
            <a:ext cx="2834640" cy="1188720"/>
          </a:xfrm>
          <a:prstGeom prst="roundRect">
            <a:avLst>
              <a:gd name="adj" fmla="val 6154"/>
            </a:avLst>
          </a:prstGeom>
          <a:solidFill>
            <a:schemeClr val="bg2"/>
          </a:solidFill>
          <a:ln/>
        </p:spPr>
      </p:sp>
      <p:sp>
        <p:nvSpPr>
          <p:cNvPr id="16" name="Shape 11"/>
          <p:cNvSpPr/>
          <p:nvPr/>
        </p:nvSpPr>
        <p:spPr>
          <a:xfrm>
            <a:off x="5852160" y="2971800"/>
            <a:ext cx="594360" cy="59436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5994806" y="3114446"/>
            <a:ext cx="309067" cy="309067"/>
          </a:xfrm>
          <a:prstGeom prst="rect">
            <a:avLst/>
          </a:prstGeom>
        </p:spPr>
      </p:pic>
      <p:sp>
        <p:nvSpPr>
          <p:cNvPr id="18" name="Text 12"/>
          <p:cNvSpPr txBox="1"/>
          <p:nvPr/>
        </p:nvSpPr>
        <p:spPr>
          <a:xfrm>
            <a:off x="6583680" y="28346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Branch points</a:t>
            </a:r>
            <a:endParaRPr lang="en-US" sz="1600" dirty="0"/>
          </a:p>
        </p:txBody>
      </p:sp>
      <p:sp>
        <p:nvSpPr>
          <p:cNvPr id="19" name="Text 13"/>
          <p:cNvSpPr txBox="1"/>
          <p:nvPr/>
        </p:nvSpPr>
        <p:spPr>
          <a:xfrm>
            <a:off x="6583680" y="3246120"/>
            <a:ext cx="1828800" cy="548640"/>
          </a:xfrm>
          <a:prstGeom prst="rect">
            <a:avLst/>
          </a:prstGeom>
          <a:noFill/>
          <a:ln/>
        </p:spPr>
        <p:txBody>
          <a:bodyPr wrap="square" lIns="0" tIns="0" rIns="0" bIns="0" rtlCol="0" anchor="t"/>
          <a:lstStyle/>
          <a:p>
            <a:pPr indent="0" marL="0">
              <a:buNone/>
            </a:pPr>
            <a:r>
              <a:rPr lang="en-US" sz="1300" dirty="0">
                <a:solidFill>
                  <a:schemeClr val="tx1"/>
                </a:solidFill>
              </a:rPr>
              <a:t>skeleton px with ≥ 3 neighbours</a:t>
            </a:r>
            <a:endParaRPr lang="en-US" sz="1300" dirty="0"/>
          </a:p>
        </p:txBody>
      </p:sp>
      <p:sp>
        <p:nvSpPr>
          <p:cNvPr id="20" name="Shape 14"/>
          <p:cNvSpPr/>
          <p:nvPr/>
        </p:nvSpPr>
        <p:spPr>
          <a:xfrm>
            <a:off x="8686800" y="2697480"/>
            <a:ext cx="2834640" cy="1188720"/>
          </a:xfrm>
          <a:prstGeom prst="roundRect">
            <a:avLst>
              <a:gd name="adj" fmla="val 6154"/>
            </a:avLst>
          </a:prstGeom>
          <a:solidFill>
            <a:schemeClr val="bg2"/>
          </a:solidFill>
          <a:ln/>
        </p:spPr>
      </p:sp>
      <p:sp>
        <p:nvSpPr>
          <p:cNvPr id="21" name="Shape 15"/>
          <p:cNvSpPr/>
          <p:nvPr/>
        </p:nvSpPr>
        <p:spPr>
          <a:xfrm>
            <a:off x="8869680" y="2971800"/>
            <a:ext cx="594360" cy="594360"/>
          </a:xfrm>
          <a:prstGeom prst="ellipse">
            <a:avLst/>
          </a:prstGeom>
          <a:solidFill>
            <a:schemeClr val="accent3"/>
          </a:solidFill>
          <a:ln/>
        </p:spPr>
      </p:sp>
      <p:pic>
        <p:nvPicPr>
          <p:cNvPr id="22" name="Image 4" descr="preencoded.png">    </p:cNvPr>
          <p:cNvPicPr>
            <a:picLocks noChangeAspect="1"/>
          </p:cNvPicPr>
          <p:nvPr/>
        </p:nvPicPr>
        <p:blipFill>
          <a:blip r:embed="rId5"/>
          <a:stretch>
            <a:fillRect/>
          </a:stretch>
        </p:blipFill>
        <p:spPr>
          <a:xfrm>
            <a:off x="9012326" y="3114446"/>
            <a:ext cx="309067" cy="309067"/>
          </a:xfrm>
          <a:prstGeom prst="rect">
            <a:avLst/>
          </a:prstGeom>
        </p:spPr>
      </p:pic>
      <p:sp>
        <p:nvSpPr>
          <p:cNvPr id="23" name="Text 16"/>
          <p:cNvSpPr txBox="1"/>
          <p:nvPr/>
        </p:nvSpPr>
        <p:spPr>
          <a:xfrm>
            <a:off x="9601200" y="28346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Contrast</a:t>
            </a:r>
            <a:endParaRPr lang="en-US" sz="1600" dirty="0"/>
          </a:p>
        </p:txBody>
      </p:sp>
      <p:sp>
        <p:nvSpPr>
          <p:cNvPr id="24" name="Text 17"/>
          <p:cNvSpPr txBox="1"/>
          <p:nvPr/>
        </p:nvSpPr>
        <p:spPr>
          <a:xfrm>
            <a:off x="9601200" y="3246120"/>
            <a:ext cx="1828800" cy="548640"/>
          </a:xfrm>
          <a:prstGeom prst="rect">
            <a:avLst/>
          </a:prstGeom>
          <a:noFill/>
          <a:ln/>
        </p:spPr>
        <p:txBody>
          <a:bodyPr wrap="square" lIns="0" tIns="0" rIns="0" bIns="0" rtlCol="0" anchor="t"/>
          <a:lstStyle/>
          <a:p>
            <a:pPr indent="0" marL="0">
              <a:buNone/>
            </a:pPr>
            <a:r>
              <a:rPr lang="en-US" sz="1300" dirty="0">
                <a:solidFill>
                  <a:schemeClr val="tx1"/>
                </a:solidFill>
              </a:rPr>
              <a:t>Σ P(i,j)·(i − j)²</a:t>
            </a:r>
            <a:endParaRPr lang="en-US" sz="1300" dirty="0"/>
          </a:p>
        </p:txBody>
      </p:sp>
      <p:sp>
        <p:nvSpPr>
          <p:cNvPr id="25" name="Shape 18"/>
          <p:cNvSpPr/>
          <p:nvPr/>
        </p:nvSpPr>
        <p:spPr>
          <a:xfrm>
            <a:off x="5669280" y="4069080"/>
            <a:ext cx="2834640" cy="1188720"/>
          </a:xfrm>
          <a:prstGeom prst="roundRect">
            <a:avLst>
              <a:gd name="adj" fmla="val 6154"/>
            </a:avLst>
          </a:prstGeom>
          <a:solidFill>
            <a:schemeClr val="bg2"/>
          </a:solidFill>
          <a:ln/>
        </p:spPr>
      </p:sp>
      <p:sp>
        <p:nvSpPr>
          <p:cNvPr id="26" name="Shape 19"/>
          <p:cNvSpPr/>
          <p:nvPr/>
        </p:nvSpPr>
        <p:spPr>
          <a:xfrm>
            <a:off x="5852160" y="4343400"/>
            <a:ext cx="594360" cy="594360"/>
          </a:xfrm>
          <a:prstGeom prst="ellipse">
            <a:avLst/>
          </a:prstGeom>
          <a:solidFill>
            <a:schemeClr val="accent3"/>
          </a:solidFill>
          <a:ln/>
        </p:spPr>
      </p:sp>
      <p:pic>
        <p:nvPicPr>
          <p:cNvPr id="27" name="Image 5" descr="preencoded.png">    </p:cNvPr>
          <p:cNvPicPr>
            <a:picLocks noChangeAspect="1"/>
          </p:cNvPicPr>
          <p:nvPr/>
        </p:nvPicPr>
        <p:blipFill>
          <a:blip r:embed="rId6"/>
          <a:stretch>
            <a:fillRect/>
          </a:stretch>
        </p:blipFill>
        <p:spPr>
          <a:xfrm>
            <a:off x="5994806" y="4486046"/>
            <a:ext cx="309067" cy="309067"/>
          </a:xfrm>
          <a:prstGeom prst="rect">
            <a:avLst/>
          </a:prstGeom>
        </p:spPr>
      </p:pic>
      <p:sp>
        <p:nvSpPr>
          <p:cNvPr id="28" name="Text 20"/>
          <p:cNvSpPr txBox="1"/>
          <p:nvPr/>
        </p:nvSpPr>
        <p:spPr>
          <a:xfrm>
            <a:off x="6583680" y="42062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Homogeneity</a:t>
            </a:r>
            <a:endParaRPr lang="en-US" sz="1600" dirty="0"/>
          </a:p>
        </p:txBody>
      </p:sp>
      <p:sp>
        <p:nvSpPr>
          <p:cNvPr id="29" name="Text 21"/>
          <p:cNvSpPr txBox="1"/>
          <p:nvPr/>
        </p:nvSpPr>
        <p:spPr>
          <a:xfrm>
            <a:off x="6583680" y="4617720"/>
            <a:ext cx="1828800" cy="548640"/>
          </a:xfrm>
          <a:prstGeom prst="rect">
            <a:avLst/>
          </a:prstGeom>
          <a:noFill/>
          <a:ln/>
        </p:spPr>
        <p:txBody>
          <a:bodyPr wrap="square" lIns="0" tIns="0" rIns="0" bIns="0" rtlCol="0" anchor="t"/>
          <a:lstStyle/>
          <a:p>
            <a:pPr indent="0" marL="0">
              <a:buNone/>
            </a:pPr>
            <a:r>
              <a:rPr lang="en-US" sz="1300" dirty="0">
                <a:solidFill>
                  <a:schemeClr val="tx1"/>
                </a:solidFill>
              </a:rPr>
              <a:t>Σ P(i,j) / (1 + (i − j)²)</a:t>
            </a:r>
            <a:endParaRPr lang="en-US" sz="1300" dirty="0"/>
          </a:p>
        </p:txBody>
      </p:sp>
      <p:sp>
        <p:nvSpPr>
          <p:cNvPr id="30" name="Shape 22"/>
          <p:cNvSpPr/>
          <p:nvPr/>
        </p:nvSpPr>
        <p:spPr>
          <a:xfrm>
            <a:off x="8686800" y="4069080"/>
            <a:ext cx="2834640" cy="1188720"/>
          </a:xfrm>
          <a:prstGeom prst="roundRect">
            <a:avLst>
              <a:gd name="adj" fmla="val 6154"/>
            </a:avLst>
          </a:prstGeom>
          <a:solidFill>
            <a:schemeClr val="bg2"/>
          </a:solidFill>
          <a:ln/>
        </p:spPr>
      </p:sp>
      <p:sp>
        <p:nvSpPr>
          <p:cNvPr id="31" name="Shape 23"/>
          <p:cNvSpPr/>
          <p:nvPr/>
        </p:nvSpPr>
        <p:spPr>
          <a:xfrm>
            <a:off x="8869680" y="4343400"/>
            <a:ext cx="594360" cy="594360"/>
          </a:xfrm>
          <a:prstGeom prst="ellipse">
            <a:avLst/>
          </a:prstGeom>
          <a:solidFill>
            <a:schemeClr val="accent3"/>
          </a:solidFill>
          <a:ln/>
        </p:spPr>
      </p:sp>
      <p:pic>
        <p:nvPicPr>
          <p:cNvPr id="32" name="Image 6" descr="preencoded.png">    </p:cNvPr>
          <p:cNvPicPr>
            <a:picLocks noChangeAspect="1"/>
          </p:cNvPicPr>
          <p:nvPr/>
        </p:nvPicPr>
        <p:blipFill>
          <a:blip r:embed="rId7"/>
          <a:stretch>
            <a:fillRect/>
          </a:stretch>
        </p:blipFill>
        <p:spPr>
          <a:xfrm>
            <a:off x="9012326" y="4486046"/>
            <a:ext cx="309067" cy="309067"/>
          </a:xfrm>
          <a:prstGeom prst="rect">
            <a:avLst/>
          </a:prstGeom>
        </p:spPr>
      </p:pic>
      <p:sp>
        <p:nvSpPr>
          <p:cNvPr id="33" name="Text 24"/>
          <p:cNvSpPr txBox="1"/>
          <p:nvPr/>
        </p:nvSpPr>
        <p:spPr>
          <a:xfrm>
            <a:off x="9601200" y="4206240"/>
            <a:ext cx="1828800" cy="411480"/>
          </a:xfrm>
          <a:prstGeom prst="rect">
            <a:avLst/>
          </a:prstGeom>
          <a:noFill/>
          <a:ln/>
        </p:spPr>
        <p:txBody>
          <a:bodyPr wrap="square" lIns="0" tIns="0" rIns="0" bIns="0" rtlCol="0" anchor="t"/>
          <a:lstStyle/>
          <a:p>
            <a:pPr indent="0" marL="0">
              <a:buNone/>
            </a:pPr>
            <a:r>
              <a:rPr lang="en-US" sz="1600" b="1" dirty="0">
                <a:solidFill>
                  <a:schemeClr val="tx2"/>
                </a:solidFill>
              </a:rPr>
              <a:t>Energy</a:t>
            </a:r>
            <a:endParaRPr lang="en-US" sz="1600" dirty="0"/>
          </a:p>
        </p:txBody>
      </p:sp>
      <p:sp>
        <p:nvSpPr>
          <p:cNvPr id="34" name="Text 25"/>
          <p:cNvSpPr txBox="1"/>
          <p:nvPr/>
        </p:nvSpPr>
        <p:spPr>
          <a:xfrm>
            <a:off x="9601200" y="4617720"/>
            <a:ext cx="1828800" cy="548640"/>
          </a:xfrm>
          <a:prstGeom prst="rect">
            <a:avLst/>
          </a:prstGeom>
          <a:noFill/>
          <a:ln/>
        </p:spPr>
        <p:txBody>
          <a:bodyPr wrap="square" lIns="0" tIns="0" rIns="0" bIns="0" rtlCol="0" anchor="t"/>
          <a:lstStyle/>
          <a:p>
            <a:pPr indent="0" marL="0">
              <a:buNone/>
            </a:pPr>
            <a:r>
              <a:rPr lang="en-US" sz="1300" dirty="0">
                <a:solidFill>
                  <a:schemeClr val="tx1"/>
                </a:solidFill>
              </a:rPr>
              <a:t>√Σ P(i,j)²</a:t>
            </a:r>
            <a:endParaRPr lang="en-US" sz="1300" dirty="0"/>
          </a:p>
        </p:txBody>
      </p:sp>
      <p:sp>
        <p:nvSpPr>
          <p:cNvPr id="35" name="Text 26"/>
          <p:cNvSpPr txBox="1"/>
          <p:nvPr/>
        </p:nvSpPr>
        <p:spPr>
          <a:xfrm>
            <a:off x="5669280" y="5440680"/>
            <a:ext cx="5943600" cy="731520"/>
          </a:xfrm>
          <a:prstGeom prst="rect">
            <a:avLst/>
          </a:prstGeom>
          <a:noFill/>
          <a:ln/>
        </p:spPr>
        <p:txBody>
          <a:bodyPr wrap="square" lIns="0" tIns="0" rIns="0" bIns="0" rtlCol="0" anchor="t"/>
          <a:lstStyle/>
          <a:p>
            <a:pPr indent="0" marL="0">
              <a:buNone/>
            </a:pPr>
            <a:r>
              <a:rPr lang="en-US" sz="1400" b="1" dirty="0">
                <a:solidFill>
                  <a:srgbClr val="E2583E"/>
                </a:solidFill>
              </a:rPr>
              <a:t>Structural </a:t>
            </a:r>
            <a:pPr indent="0" marL="0">
              <a:buNone/>
            </a:pPr>
            <a:r>
              <a:rPr lang="en-US" sz="1400" dirty="0">
                <a:solidFill>
                  <a:schemeClr val="tx1"/>
                </a:solidFill>
              </a:rPr>
              <a:t>features come from the skeleton. </a:t>
            </a:r>
            <a:pPr indent="0" marL="0">
              <a:buNone/>
            </a:pPr>
            <a:r>
              <a:rPr lang="en-US" sz="1400" b="1" dirty="0">
                <a:solidFill>
                  <a:srgbClr val="2A9D8F"/>
                </a:solidFill>
              </a:rPr>
              <a:t>Texture </a:t>
            </a:r>
            <a:pPr indent="0" marL="0">
              <a:buNone/>
            </a:pPr>
            <a:r>
              <a:rPr lang="en-US" sz="1400" dirty="0">
                <a:solidFill>
                  <a:schemeClr val="tx1"/>
                </a:solidFill>
              </a:rPr>
              <a:t>features (teal) come from the GLCM of non-vessel tissue on the restored image (32 levels, d = 1, 0°/45°/90°/135° averaged).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Stage D — rule-based fusion (Module 7)</a:t>
            </a:r>
            <a:endParaRPr lang="en-US" sz="3000" dirty="0"/>
          </a:p>
        </p:txBody>
      </p:sp>
      <p:graphicFrame>
        <p:nvGraphicFramePr>
          <p:cNvPr id="3" name="Chart 0" descr=""/>
          <p:cNvGraphicFramePr/>
          <p:nvPr/>
        </p:nvGraphicFramePr>
        <p:xfrm>
          <a:off x="54864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77840"/>
            <a:ext cx="5852160" cy="320040"/>
          </a:xfrm>
          <a:prstGeom prst="rect">
            <a:avLst/>
          </a:prstGeom>
          <a:noFill/>
          <a:ln/>
        </p:spPr>
        <p:txBody>
          <a:bodyPr wrap="square" lIns="0" tIns="0" rIns="0" bIns="0" rtlCol="0" anchor="t"/>
          <a:lstStyle/>
          <a:p>
            <a:pPr indent="0" marL="0">
              <a:buNone/>
            </a:pPr>
            <a:r>
              <a:rPr lang="en-US" sz="1200" i="1" dirty="0">
                <a:solidFill>
                  <a:srgbClr val="5B6478"/>
                </a:solidFill>
              </a:rPr>
              <a:t>(↓) lower value = higher risk, entered as 1 − f</a:t>
            </a:r>
            <a:endParaRPr lang="en-US" sz="1200" dirty="0"/>
          </a:p>
        </p:txBody>
      </p:sp>
      <p:sp>
        <p:nvSpPr>
          <p:cNvPr id="5" name="Shape 2"/>
          <p:cNvSpPr/>
          <p:nvPr/>
        </p:nvSpPr>
        <p:spPr>
          <a:xfrm>
            <a:off x="6766560" y="1325880"/>
            <a:ext cx="4846320" cy="1188720"/>
          </a:xfrm>
          <a:prstGeom prst="roundRect">
            <a:avLst>
              <a:gd name="adj" fmla="val 6154"/>
            </a:avLst>
          </a:prstGeom>
          <a:solidFill>
            <a:schemeClr val="tx2"/>
          </a:solidFill>
          <a:ln/>
        </p:spPr>
      </p:sp>
      <p:sp>
        <p:nvSpPr>
          <p:cNvPr id="6" name="Text 3"/>
          <p:cNvSpPr txBox="1"/>
          <p:nvPr/>
        </p:nvSpPr>
        <p:spPr>
          <a:xfrm>
            <a:off x="6949440" y="1371600"/>
            <a:ext cx="4480560" cy="640080"/>
          </a:xfrm>
          <a:prstGeom prst="rect">
            <a:avLst/>
          </a:prstGeom>
          <a:noFill/>
          <a:ln/>
        </p:spPr>
        <p:txBody>
          <a:bodyPr wrap="square" lIns="0" tIns="0" rIns="0" bIns="0" rtlCol="0" anchor="ctr"/>
          <a:lstStyle/>
          <a:p>
            <a:pPr indent="0" marL="0">
              <a:buNone/>
            </a:pPr>
            <a:r>
              <a:rPr lang="en-US" sz="2800" b="1" dirty="0">
                <a:solidFill>
                  <a:schemeClr val="bg1"/>
                </a:solidFill>
              </a:rPr>
              <a:t>Risk = Σ wᵢ · fᵢ</a:t>
            </a:r>
            <a:endParaRPr lang="en-US" sz="2800" dirty="0"/>
          </a:p>
        </p:txBody>
      </p:sp>
      <p:sp>
        <p:nvSpPr>
          <p:cNvPr id="7" name="Text 4"/>
          <p:cNvSpPr txBox="1"/>
          <p:nvPr/>
        </p:nvSpPr>
        <p:spPr>
          <a:xfrm>
            <a:off x="6949440" y="1965960"/>
            <a:ext cx="4480560" cy="457200"/>
          </a:xfrm>
          <a:prstGeom prst="rect">
            <a:avLst/>
          </a:prstGeom>
          <a:noFill/>
          <a:ln/>
        </p:spPr>
        <p:txBody>
          <a:bodyPr wrap="square" lIns="0" tIns="0" rIns="0" bIns="0" rtlCol="0" anchor="t"/>
          <a:lstStyle/>
          <a:p>
            <a:pPr indent="0" marL="0">
              <a:buNone/>
            </a:pPr>
            <a:r>
              <a:rPr lang="en-US" sz="1400" dirty="0">
                <a:solidFill>
                  <a:schemeClr val="accent2"/>
                </a:solidFill>
              </a:rPr>
              <a:t>fᵢ scaled to 0–1 against the DRIVE 5th–95th percentile range</a:t>
            </a:r>
            <a:endParaRPr lang="en-US" sz="1400" dirty="0"/>
          </a:p>
        </p:txBody>
      </p:sp>
      <p:sp>
        <p:nvSpPr>
          <p:cNvPr id="8" name="Shape 5"/>
          <p:cNvSpPr/>
          <p:nvPr/>
        </p:nvSpPr>
        <p:spPr>
          <a:xfrm>
            <a:off x="6766560" y="2788920"/>
            <a:ext cx="1508760" cy="1097280"/>
          </a:xfrm>
          <a:prstGeom prst="roundRect">
            <a:avLst>
              <a:gd name="adj" fmla="val 6667"/>
            </a:avLst>
          </a:prstGeom>
          <a:solidFill>
            <a:srgbClr val="2A9D8F"/>
          </a:solidFill>
          <a:ln/>
        </p:spPr>
      </p:sp>
      <p:sp>
        <p:nvSpPr>
          <p:cNvPr id="9" name="Text 6"/>
          <p:cNvSpPr txBox="1"/>
          <p:nvPr/>
        </p:nvSpPr>
        <p:spPr>
          <a:xfrm>
            <a:off x="6766560" y="2788920"/>
            <a:ext cx="1508760" cy="1097280"/>
          </a:xfrm>
          <a:prstGeom prst="rect">
            <a:avLst/>
          </a:prstGeom>
          <a:noFill/>
          <a:ln/>
        </p:spPr>
        <p:txBody>
          <a:bodyPr wrap="square" lIns="0" tIns="0" rIns="0" bIns="0" rtlCol="0" anchor="ctr"/>
          <a:lstStyle/>
          <a:p>
            <a:pPr algn="ctr" indent="0" marL="0">
              <a:buNone/>
            </a:pPr>
            <a:r>
              <a:rPr lang="en-US" sz="1800" b="1" dirty="0">
                <a:solidFill>
                  <a:srgbClr val="FFFFFF"/>
                </a:solidFill>
              </a:rPr>
              <a:t>Low</a:t>
            </a:r>
            <a:endParaRPr lang="en-US" sz="1500" dirty="0"/>
          </a:p>
          <a:p>
            <a:pPr algn="ctr" indent="0" marL="0">
              <a:buNone/>
            </a:pPr>
            <a:r>
              <a:rPr lang="en-US" sz="1400" dirty="0">
                <a:solidFill>
                  <a:srgbClr val="FFFFFF"/>
                </a:solidFill>
              </a:rPr>
              <a:t>&lt; 0.30</a:t>
            </a:r>
            <a:endParaRPr lang="en-US" sz="1500" dirty="0"/>
          </a:p>
        </p:txBody>
      </p:sp>
      <p:sp>
        <p:nvSpPr>
          <p:cNvPr id="10" name="Shape 7"/>
          <p:cNvSpPr/>
          <p:nvPr/>
        </p:nvSpPr>
        <p:spPr>
          <a:xfrm>
            <a:off x="8412480" y="2788920"/>
            <a:ext cx="1508760" cy="1097280"/>
          </a:xfrm>
          <a:prstGeom prst="roundRect">
            <a:avLst>
              <a:gd name="adj" fmla="val 6667"/>
            </a:avLst>
          </a:prstGeom>
          <a:solidFill>
            <a:srgbClr val="F4A261"/>
          </a:solidFill>
          <a:ln/>
        </p:spPr>
      </p:sp>
      <p:sp>
        <p:nvSpPr>
          <p:cNvPr id="11" name="Text 8"/>
          <p:cNvSpPr txBox="1"/>
          <p:nvPr/>
        </p:nvSpPr>
        <p:spPr>
          <a:xfrm>
            <a:off x="8412480" y="2788920"/>
            <a:ext cx="1508760" cy="1097280"/>
          </a:xfrm>
          <a:prstGeom prst="rect">
            <a:avLst/>
          </a:prstGeom>
          <a:noFill/>
          <a:ln/>
        </p:spPr>
        <p:txBody>
          <a:bodyPr wrap="square" lIns="0" tIns="0" rIns="0" bIns="0" rtlCol="0" anchor="ctr"/>
          <a:lstStyle/>
          <a:p>
            <a:pPr algn="ctr" indent="0" marL="0">
              <a:buNone/>
            </a:pPr>
            <a:r>
              <a:rPr lang="en-US" sz="1800" b="1" dirty="0">
                <a:solidFill>
                  <a:srgbClr val="FFFFFF"/>
                </a:solidFill>
              </a:rPr>
              <a:t>Medium</a:t>
            </a:r>
            <a:endParaRPr lang="en-US" sz="1500" dirty="0"/>
          </a:p>
          <a:p>
            <a:pPr algn="ctr" indent="0" marL="0">
              <a:buNone/>
            </a:pPr>
            <a:r>
              <a:rPr lang="en-US" sz="1400" dirty="0">
                <a:solidFill>
                  <a:srgbClr val="FFFFFF"/>
                </a:solidFill>
              </a:rPr>
              <a:t>0.30 – 0.60</a:t>
            </a:r>
            <a:endParaRPr lang="en-US" sz="1500" dirty="0"/>
          </a:p>
        </p:txBody>
      </p:sp>
      <p:sp>
        <p:nvSpPr>
          <p:cNvPr id="12" name="Shape 9"/>
          <p:cNvSpPr/>
          <p:nvPr/>
        </p:nvSpPr>
        <p:spPr>
          <a:xfrm>
            <a:off x="10058400" y="2788920"/>
            <a:ext cx="1508760" cy="1097280"/>
          </a:xfrm>
          <a:prstGeom prst="roundRect">
            <a:avLst>
              <a:gd name="adj" fmla="val 6667"/>
            </a:avLst>
          </a:prstGeom>
          <a:solidFill>
            <a:srgbClr val="E2583E"/>
          </a:solidFill>
          <a:ln/>
        </p:spPr>
      </p:sp>
      <p:sp>
        <p:nvSpPr>
          <p:cNvPr id="13" name="Text 10"/>
          <p:cNvSpPr txBox="1"/>
          <p:nvPr/>
        </p:nvSpPr>
        <p:spPr>
          <a:xfrm>
            <a:off x="10058400" y="2788920"/>
            <a:ext cx="1508760" cy="1097280"/>
          </a:xfrm>
          <a:prstGeom prst="rect">
            <a:avLst/>
          </a:prstGeom>
          <a:noFill/>
          <a:ln/>
        </p:spPr>
        <p:txBody>
          <a:bodyPr wrap="square" lIns="0" tIns="0" rIns="0" bIns="0" rtlCol="0" anchor="ctr"/>
          <a:lstStyle/>
          <a:p>
            <a:pPr algn="ctr" indent="0" marL="0">
              <a:buNone/>
            </a:pPr>
            <a:r>
              <a:rPr lang="en-US" sz="1800" b="1" dirty="0">
                <a:solidFill>
                  <a:srgbClr val="FFFFFF"/>
                </a:solidFill>
              </a:rPr>
              <a:t>High</a:t>
            </a:r>
            <a:endParaRPr lang="en-US" sz="1500" dirty="0"/>
          </a:p>
          <a:p>
            <a:pPr algn="ctr" indent="0" marL="0">
              <a:buNone/>
            </a:pPr>
            <a:r>
              <a:rPr lang="en-US" sz="1400" dirty="0">
                <a:solidFill>
                  <a:srgbClr val="FFFFFF"/>
                </a:solidFill>
              </a:rPr>
              <a:t>&gt; 0.60</a:t>
            </a:r>
            <a:endParaRPr lang="en-US" sz="1500" dirty="0"/>
          </a:p>
        </p:txBody>
      </p:sp>
      <p:sp>
        <p:nvSpPr>
          <p:cNvPr id="14" name="Text 11"/>
          <p:cNvSpPr txBox="1"/>
          <p:nvPr/>
        </p:nvSpPr>
        <p:spPr>
          <a:xfrm>
            <a:off x="6766560" y="4114800"/>
            <a:ext cx="4846320" cy="1737360"/>
          </a:xfrm>
          <a:prstGeom prst="rect">
            <a:avLst/>
          </a:prstGeom>
          <a:noFill/>
          <a:ln/>
        </p:spPr>
        <p:txBody>
          <a:bodyPr wrap="square" lIns="0" tIns="0" rIns="0" bIns="0" rtlCol="0" anchor="t"/>
          <a:lstStyle/>
          <a:p>
            <a:pPr indent="0" marL="0">
              <a:buNone/>
            </a:pPr>
            <a:r>
              <a:rPr lang="en-US" sz="1500" b="1" dirty="0">
                <a:solidFill>
                  <a:srgbClr val="14213D"/>
                </a:solidFill>
              </a:rPr>
              <a:t>Why rule-based? </a:t>
            </a:r>
            <a:pPr indent="0" marL="0">
              <a:buNone/>
            </a:pPr>
            <a:r>
              <a:rPr lang="en-US" sz="1500" dirty="0">
                <a:solidFill>
                  <a:schemeClr val="tx1"/>
                </a:solidFill>
              </a:rPr>
              <a:t>Every weight is fixed in advance, and every input is a quantity a clinician can measure on the image. The score can be decomposed into six bars, so the system can always say why it gave a value.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Experimental setup</a:t>
            </a:r>
            <a:endParaRPr lang="en-US" sz="3000" dirty="0"/>
          </a:p>
        </p:txBody>
      </p:sp>
      <p:sp>
        <p:nvSpPr>
          <p:cNvPr id="3" name="Shape 1"/>
          <p:cNvSpPr/>
          <p:nvPr/>
        </p:nvSpPr>
        <p:spPr>
          <a:xfrm>
            <a:off x="548640" y="1417320"/>
            <a:ext cx="594360" cy="59436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91286" y="1559966"/>
            <a:ext cx="309067" cy="309067"/>
          </a:xfrm>
          <a:prstGeom prst="rect">
            <a:avLst/>
          </a:prstGeom>
        </p:spPr>
      </p:pic>
      <p:sp>
        <p:nvSpPr>
          <p:cNvPr id="5" name="Text 2"/>
          <p:cNvSpPr txBox="1"/>
          <p:nvPr/>
        </p:nvSpPr>
        <p:spPr>
          <a:xfrm>
            <a:off x="1371600" y="1371600"/>
            <a:ext cx="5943600" cy="365760"/>
          </a:xfrm>
          <a:prstGeom prst="rect">
            <a:avLst/>
          </a:prstGeom>
          <a:noFill/>
          <a:ln/>
        </p:spPr>
        <p:txBody>
          <a:bodyPr wrap="square" lIns="0" tIns="0" rIns="0" bIns="0" rtlCol="0" anchor="t"/>
          <a:lstStyle/>
          <a:p>
            <a:pPr indent="0" marL="0">
              <a:buNone/>
            </a:pPr>
            <a:r>
              <a:rPr lang="en-US" sz="1800" b="1" dirty="0">
                <a:solidFill>
                  <a:schemeClr val="tx2"/>
                </a:solidFill>
              </a:rPr>
              <a:t>DRIVE dataset</a:t>
            </a:r>
            <a:endParaRPr lang="en-US" sz="1800" dirty="0"/>
          </a:p>
        </p:txBody>
      </p:sp>
      <p:sp>
        <p:nvSpPr>
          <p:cNvPr id="6" name="Text 3"/>
          <p:cNvSpPr txBox="1"/>
          <p:nvPr/>
        </p:nvSpPr>
        <p:spPr>
          <a:xfrm>
            <a:off x="1371600" y="1737360"/>
            <a:ext cx="5943600" cy="777240"/>
          </a:xfrm>
          <a:prstGeom prst="rect">
            <a:avLst/>
          </a:prstGeom>
          <a:noFill/>
          <a:ln/>
        </p:spPr>
        <p:txBody>
          <a:bodyPr wrap="square" lIns="0" tIns="0" rIns="0" bIns="0" rtlCol="0" anchor="t"/>
          <a:lstStyle/>
          <a:p>
            <a:pPr indent="0" marL="0">
              <a:buNone/>
            </a:pPr>
            <a:r>
              <a:rPr lang="en-US" sz="1400" dirty="0">
                <a:solidFill>
                  <a:schemeClr val="tx1"/>
                </a:solidFill>
              </a:rPr>
              <a:t>40 colour fundus images (565 × 584), 20 training + 20 test, each with an expert vessel mask and FOV mask. 7 images show signs of mild early DR.</a:t>
            </a:r>
            <a:endParaRPr lang="en-US" sz="1400" dirty="0"/>
          </a:p>
        </p:txBody>
      </p:sp>
      <p:sp>
        <p:nvSpPr>
          <p:cNvPr id="7" name="Shape 4"/>
          <p:cNvSpPr/>
          <p:nvPr/>
        </p:nvSpPr>
        <p:spPr>
          <a:xfrm>
            <a:off x="548640" y="2606040"/>
            <a:ext cx="594360" cy="59436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91286" y="2748686"/>
            <a:ext cx="309067" cy="309067"/>
          </a:xfrm>
          <a:prstGeom prst="rect">
            <a:avLst/>
          </a:prstGeom>
        </p:spPr>
      </p:pic>
      <p:sp>
        <p:nvSpPr>
          <p:cNvPr id="9" name="Text 5"/>
          <p:cNvSpPr txBox="1"/>
          <p:nvPr/>
        </p:nvSpPr>
        <p:spPr>
          <a:xfrm>
            <a:off x="1371600" y="2560320"/>
            <a:ext cx="5943600" cy="365760"/>
          </a:xfrm>
          <a:prstGeom prst="rect">
            <a:avLst/>
          </a:prstGeom>
          <a:noFill/>
          <a:ln/>
        </p:spPr>
        <p:txBody>
          <a:bodyPr wrap="square" lIns="0" tIns="0" rIns="0" bIns="0" rtlCol="0" anchor="t"/>
          <a:lstStyle/>
          <a:p>
            <a:pPr indent="0" marL="0">
              <a:buNone/>
            </a:pPr>
            <a:r>
              <a:rPr lang="en-US" sz="1800" b="1" dirty="0">
                <a:solidFill>
                  <a:schemeClr val="tx2"/>
                </a:solidFill>
              </a:rPr>
              <a:t>Honest tuning</a:t>
            </a:r>
            <a:endParaRPr lang="en-US" sz="1800" dirty="0"/>
          </a:p>
        </p:txBody>
      </p:sp>
      <p:sp>
        <p:nvSpPr>
          <p:cNvPr id="10" name="Text 6"/>
          <p:cNvSpPr txBox="1"/>
          <p:nvPr/>
        </p:nvSpPr>
        <p:spPr>
          <a:xfrm>
            <a:off x="1371600" y="2926080"/>
            <a:ext cx="5943600" cy="777240"/>
          </a:xfrm>
          <a:prstGeom prst="rect">
            <a:avLst/>
          </a:prstGeom>
          <a:noFill/>
          <a:ln/>
        </p:spPr>
        <p:txBody>
          <a:bodyPr wrap="square" lIns="0" tIns="0" rIns="0" bIns="0" rtlCol="0" anchor="t"/>
          <a:lstStyle/>
          <a:p>
            <a:pPr indent="0" marL="0">
              <a:buNone/>
            </a:pPr>
            <a:r>
              <a:rPr lang="en-US" sz="1400" dirty="0">
                <a:solidFill>
                  <a:schemeClr val="tx1"/>
                </a:solidFill>
              </a:rPr>
              <a:t>Filter constants chosen by grid search on the 20 training images only; all headline numbers reported on the untouched test split.</a:t>
            </a:r>
            <a:endParaRPr lang="en-US" sz="1400" dirty="0"/>
          </a:p>
        </p:txBody>
      </p:sp>
      <p:sp>
        <p:nvSpPr>
          <p:cNvPr id="11" name="Shape 7"/>
          <p:cNvSpPr/>
          <p:nvPr/>
        </p:nvSpPr>
        <p:spPr>
          <a:xfrm>
            <a:off x="548640" y="3794760"/>
            <a:ext cx="594360" cy="59436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91286" y="3937406"/>
            <a:ext cx="309067" cy="309067"/>
          </a:xfrm>
          <a:prstGeom prst="rect">
            <a:avLst/>
          </a:prstGeom>
        </p:spPr>
      </p:pic>
      <p:sp>
        <p:nvSpPr>
          <p:cNvPr id="13" name="Text 8"/>
          <p:cNvSpPr txBox="1"/>
          <p:nvPr/>
        </p:nvSpPr>
        <p:spPr>
          <a:xfrm>
            <a:off x="1371600" y="3749040"/>
            <a:ext cx="5943600" cy="365760"/>
          </a:xfrm>
          <a:prstGeom prst="rect">
            <a:avLst/>
          </a:prstGeom>
          <a:noFill/>
          <a:ln/>
        </p:spPr>
        <p:txBody>
          <a:bodyPr wrap="square" lIns="0" tIns="0" rIns="0" bIns="0" rtlCol="0" anchor="t"/>
          <a:lstStyle/>
          <a:p>
            <a:pPr indent="0" marL="0">
              <a:buNone/>
            </a:pPr>
            <a:r>
              <a:rPr lang="en-US" sz="1800" b="1" dirty="0">
                <a:solidFill>
                  <a:schemeClr val="tx2"/>
                </a:solidFill>
              </a:rPr>
              <a:t>Metrics</a:t>
            </a:r>
            <a:endParaRPr lang="en-US" sz="1800" dirty="0"/>
          </a:p>
        </p:txBody>
      </p:sp>
      <p:sp>
        <p:nvSpPr>
          <p:cNvPr id="14" name="Text 9"/>
          <p:cNvSpPr txBox="1"/>
          <p:nvPr/>
        </p:nvSpPr>
        <p:spPr>
          <a:xfrm>
            <a:off x="1371600" y="4114800"/>
            <a:ext cx="5943600" cy="777240"/>
          </a:xfrm>
          <a:prstGeom prst="rect">
            <a:avLst/>
          </a:prstGeom>
          <a:noFill/>
          <a:ln/>
        </p:spPr>
        <p:txBody>
          <a:bodyPr wrap="square" lIns="0" tIns="0" rIns="0" bIns="0" rtlCol="0" anchor="t"/>
          <a:lstStyle/>
          <a:p>
            <a:pPr indent="0" marL="0">
              <a:buNone/>
            </a:pPr>
            <a:r>
              <a:rPr lang="en-US" sz="1400" dirty="0">
                <a:solidFill>
                  <a:schemeClr val="tx1"/>
                </a:solidFill>
              </a:rPr>
              <a:t>Sensitivity, specificity, accuracy, Dice and Jaccard, computed inside the field of view against the 1st manual annotation.</a:t>
            </a:r>
            <a:endParaRPr lang="en-US" sz="1400" dirty="0"/>
          </a:p>
        </p:txBody>
      </p:sp>
      <p:sp>
        <p:nvSpPr>
          <p:cNvPr id="15" name="Shape 10"/>
          <p:cNvSpPr/>
          <p:nvPr/>
        </p:nvSpPr>
        <p:spPr>
          <a:xfrm>
            <a:off x="548640" y="4983480"/>
            <a:ext cx="594360" cy="594360"/>
          </a:xfrm>
          <a:prstGeom prst="ellipse">
            <a:avLst/>
          </a:prstGeom>
          <a:solidFill>
            <a:schemeClr val="accent1"/>
          </a:solidFill>
          <a:ln/>
        </p:spPr>
      </p:sp>
      <p:pic>
        <p:nvPicPr>
          <p:cNvPr id="16" name="Image 3" descr="preencoded.png">    </p:cNvPr>
          <p:cNvPicPr>
            <a:picLocks noChangeAspect="1"/>
          </p:cNvPicPr>
          <p:nvPr/>
        </p:nvPicPr>
        <p:blipFill>
          <a:blip r:embed="rId4"/>
          <a:stretch>
            <a:fillRect/>
          </a:stretch>
        </p:blipFill>
        <p:spPr>
          <a:xfrm>
            <a:off x="691286" y="5126126"/>
            <a:ext cx="309067" cy="309067"/>
          </a:xfrm>
          <a:prstGeom prst="rect">
            <a:avLst/>
          </a:prstGeom>
        </p:spPr>
      </p:pic>
      <p:sp>
        <p:nvSpPr>
          <p:cNvPr id="17" name="Text 11"/>
          <p:cNvSpPr txBox="1"/>
          <p:nvPr/>
        </p:nvSpPr>
        <p:spPr>
          <a:xfrm>
            <a:off x="1371600" y="4937760"/>
            <a:ext cx="5943600" cy="365760"/>
          </a:xfrm>
          <a:prstGeom prst="rect">
            <a:avLst/>
          </a:prstGeom>
          <a:noFill/>
          <a:ln/>
        </p:spPr>
        <p:txBody>
          <a:bodyPr wrap="square" lIns="0" tIns="0" rIns="0" bIns="0" rtlCol="0" anchor="t"/>
          <a:lstStyle/>
          <a:p>
            <a:pPr indent="0" marL="0">
              <a:buNone/>
            </a:pPr>
            <a:r>
              <a:rPr lang="en-US" sz="1800" b="1" dirty="0">
                <a:solidFill>
                  <a:schemeClr val="tx2"/>
                </a:solidFill>
              </a:rPr>
              <a:t>Baseline + checks</a:t>
            </a:r>
            <a:endParaRPr lang="en-US" sz="1800" dirty="0"/>
          </a:p>
        </p:txBody>
      </p:sp>
      <p:sp>
        <p:nvSpPr>
          <p:cNvPr id="18" name="Text 12"/>
          <p:cNvSpPr txBox="1"/>
          <p:nvPr/>
        </p:nvSpPr>
        <p:spPr>
          <a:xfrm>
            <a:off x="1371600" y="5303520"/>
            <a:ext cx="5943600" cy="777240"/>
          </a:xfrm>
          <a:prstGeom prst="rect">
            <a:avLst/>
          </a:prstGeom>
          <a:noFill/>
          <a:ln/>
        </p:spPr>
        <p:txBody>
          <a:bodyPr wrap="square" lIns="0" tIns="0" rIns="0" bIns="0" rtlCol="0" anchor="t"/>
          <a:lstStyle/>
          <a:p>
            <a:pPr indent="0" marL="0">
              <a:buNone/>
            </a:pPr>
            <a:r>
              <a:rPr lang="en-US" sz="1400" dirty="0">
                <a:solidFill>
                  <a:schemeClr val="tx1"/>
                </a:solidFill>
              </a:rPr>
              <a:t>Plain Otsu on the green channel; ablation of every module; JPEG q = 70/80 robustness; ±20 % weight sensitivity.</a:t>
            </a:r>
            <a:endParaRPr lang="en-US" sz="1400" dirty="0"/>
          </a:p>
        </p:txBody>
      </p:sp>
      <p:pic>
        <p:nvPicPr>
          <p:cNvPr id="19" name="Image 4" descr="/home/user/dip_project/presentation/assets/rgb.png">    </p:cNvPr>
          <p:cNvPicPr>
            <a:picLocks noChangeAspect="1"/>
          </p:cNvPicPr>
          <p:nvPr/>
        </p:nvPicPr>
        <p:blipFill>
          <a:blip r:embed="rId5"/>
          <a:stretch>
            <a:fillRect/>
          </a:stretch>
        </p:blipFill>
        <p:spPr>
          <a:xfrm>
            <a:off x="7726680" y="2194560"/>
            <a:ext cx="1874520" cy="1937557"/>
          </a:xfrm>
          <a:prstGeom prst="rect">
            <a:avLst/>
          </a:prstGeom>
        </p:spPr>
      </p:pic>
      <p:sp>
        <p:nvSpPr>
          <p:cNvPr id="20" name="Text 13"/>
          <p:cNvSpPr txBox="1"/>
          <p:nvPr/>
        </p:nvSpPr>
        <p:spPr>
          <a:xfrm>
            <a:off x="7726680" y="4206240"/>
            <a:ext cx="1874520" cy="320040"/>
          </a:xfrm>
          <a:prstGeom prst="rect">
            <a:avLst/>
          </a:prstGeom>
          <a:noFill/>
          <a:ln/>
        </p:spPr>
        <p:txBody>
          <a:bodyPr wrap="square" lIns="0" tIns="0" rIns="0" bIns="0" rtlCol="0" anchor="t"/>
          <a:lstStyle/>
          <a:p>
            <a:pPr algn="ctr" indent="0" marL="0">
              <a:buNone/>
            </a:pPr>
            <a:r>
              <a:rPr lang="en-US" sz="1400" b="1" dirty="0">
                <a:solidFill>
                  <a:schemeClr val="tx2"/>
                </a:solidFill>
              </a:rPr>
              <a:t>Input</a:t>
            </a:r>
            <a:endParaRPr lang="en-US" sz="1400" dirty="0"/>
          </a:p>
        </p:txBody>
      </p:sp>
      <p:pic>
        <p:nvPicPr>
          <p:cNvPr id="21" name="Image 5" descr="/home/user/dip_project/presentation/assets/gt_01.png">    </p:cNvPr>
          <p:cNvPicPr>
            <a:picLocks noChangeAspect="1"/>
          </p:cNvPicPr>
          <p:nvPr/>
        </p:nvPicPr>
        <p:blipFill>
          <a:blip r:embed="rId6"/>
          <a:stretch>
            <a:fillRect/>
          </a:stretch>
        </p:blipFill>
        <p:spPr>
          <a:xfrm>
            <a:off x="9738360" y="2194560"/>
            <a:ext cx="1874520" cy="1937557"/>
          </a:xfrm>
          <a:prstGeom prst="rect">
            <a:avLst/>
          </a:prstGeom>
        </p:spPr>
      </p:pic>
      <p:sp>
        <p:nvSpPr>
          <p:cNvPr id="22" name="Text 14"/>
          <p:cNvSpPr txBox="1"/>
          <p:nvPr/>
        </p:nvSpPr>
        <p:spPr>
          <a:xfrm>
            <a:off x="9738360" y="4206240"/>
            <a:ext cx="1874520" cy="320040"/>
          </a:xfrm>
          <a:prstGeom prst="rect">
            <a:avLst/>
          </a:prstGeom>
          <a:noFill/>
          <a:ln/>
        </p:spPr>
        <p:txBody>
          <a:bodyPr wrap="square" lIns="0" tIns="0" rIns="0" bIns="0" rtlCol="0" anchor="t"/>
          <a:lstStyle/>
          <a:p>
            <a:pPr algn="ctr" indent="0" marL="0">
              <a:buNone/>
            </a:pPr>
            <a:r>
              <a:rPr lang="en-US" sz="1400" b="1" dirty="0">
                <a:solidFill>
                  <a:schemeClr val="tx2"/>
                </a:solidFill>
              </a:rPr>
              <a:t>Expert mask</a:t>
            </a:r>
            <a:endParaRPr lang="en-US" sz="1400" dirty="0"/>
          </a:p>
        </p:txBody>
      </p:sp>
      <p:sp>
        <p:nvSpPr>
          <p:cNvPr id="23" name="Text 15"/>
          <p:cNvSpPr txBox="1"/>
          <p:nvPr/>
        </p:nvSpPr>
        <p:spPr>
          <a:xfrm>
            <a:off x="7726680" y="4846320"/>
            <a:ext cx="3886200" cy="640080"/>
          </a:xfrm>
          <a:prstGeom prst="rect">
            <a:avLst/>
          </a:prstGeom>
          <a:noFill/>
          <a:ln/>
        </p:spPr>
        <p:txBody>
          <a:bodyPr wrap="square" lIns="0" tIns="0" rIns="0" bIns="0" rtlCol="0" anchor="t"/>
          <a:lstStyle/>
          <a:p>
            <a:pPr algn="ctr" indent="0" marL="0">
              <a:buNone/>
            </a:pPr>
            <a:r>
              <a:rPr lang="en-US" sz="1300" i="1" dirty="0">
                <a:solidFill>
                  <a:srgbClr val="5B6478"/>
                </a:solidFill>
              </a:rPr>
              <a:t>Python · NumPy · SciPy · OpenCV · scikit-image · Streamlit — CPU only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Segmentation: 3.7× the baseline Dice</a:t>
            </a:r>
            <a:endParaRPr lang="en-US" sz="3000" dirty="0"/>
          </a:p>
        </p:txBody>
      </p:sp>
      <p:sp>
        <p:nvSpPr>
          <p:cNvPr id="3" name="Shape 1"/>
          <p:cNvSpPr/>
          <p:nvPr/>
        </p:nvSpPr>
        <p:spPr>
          <a:xfrm>
            <a:off x="548640" y="1325880"/>
            <a:ext cx="3108960" cy="1051560"/>
          </a:xfrm>
          <a:prstGeom prst="roundRect">
            <a:avLst>
              <a:gd name="adj" fmla="val 6957"/>
            </a:avLst>
          </a:prstGeom>
          <a:solidFill>
            <a:schemeClr val="bg2"/>
          </a:solidFill>
          <a:ln/>
        </p:spPr>
      </p:sp>
      <p:sp>
        <p:nvSpPr>
          <p:cNvPr id="4" name="Text 2"/>
          <p:cNvSpPr txBox="1"/>
          <p:nvPr/>
        </p:nvSpPr>
        <p:spPr>
          <a:xfrm>
            <a:off x="731520" y="1325880"/>
            <a:ext cx="1737360" cy="10515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0.749</a:t>
            </a:r>
            <a:endParaRPr lang="en-US" sz="3600" dirty="0"/>
          </a:p>
        </p:txBody>
      </p:sp>
      <p:sp>
        <p:nvSpPr>
          <p:cNvPr id="5" name="Text 3"/>
          <p:cNvSpPr txBox="1"/>
          <p:nvPr/>
        </p:nvSpPr>
        <p:spPr>
          <a:xfrm>
            <a:off x="2423160" y="1325880"/>
            <a:ext cx="1188720" cy="1051560"/>
          </a:xfrm>
          <a:prstGeom prst="rect">
            <a:avLst/>
          </a:prstGeom>
          <a:noFill/>
          <a:ln/>
        </p:spPr>
        <p:txBody>
          <a:bodyPr wrap="square" lIns="0" tIns="0" rIns="0" bIns="0" rtlCol="0" anchor="ctr"/>
          <a:lstStyle/>
          <a:p>
            <a:pPr indent="0" marL="0">
              <a:buNone/>
            </a:pPr>
            <a:r>
              <a:rPr lang="en-US" sz="1500" dirty="0">
                <a:solidFill>
                  <a:srgbClr val="5B6478"/>
                </a:solidFill>
              </a:rPr>
              <a:t>Dice</a:t>
            </a:r>
            <a:endParaRPr lang="en-US" sz="1500" dirty="0"/>
          </a:p>
        </p:txBody>
      </p:sp>
      <p:sp>
        <p:nvSpPr>
          <p:cNvPr id="6" name="Shape 4"/>
          <p:cNvSpPr/>
          <p:nvPr/>
        </p:nvSpPr>
        <p:spPr>
          <a:xfrm>
            <a:off x="548640" y="2514600"/>
            <a:ext cx="3108960" cy="1051560"/>
          </a:xfrm>
          <a:prstGeom prst="roundRect">
            <a:avLst>
              <a:gd name="adj" fmla="val 6957"/>
            </a:avLst>
          </a:prstGeom>
          <a:solidFill>
            <a:schemeClr val="bg2"/>
          </a:solidFill>
          <a:ln/>
        </p:spPr>
      </p:sp>
      <p:sp>
        <p:nvSpPr>
          <p:cNvPr id="7" name="Text 5"/>
          <p:cNvSpPr txBox="1"/>
          <p:nvPr/>
        </p:nvSpPr>
        <p:spPr>
          <a:xfrm>
            <a:off x="731520" y="2514600"/>
            <a:ext cx="173736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0.938</a:t>
            </a:r>
            <a:endParaRPr lang="en-US" sz="3600" dirty="0"/>
          </a:p>
        </p:txBody>
      </p:sp>
      <p:sp>
        <p:nvSpPr>
          <p:cNvPr id="8" name="Text 6"/>
          <p:cNvSpPr txBox="1"/>
          <p:nvPr/>
        </p:nvSpPr>
        <p:spPr>
          <a:xfrm>
            <a:off x="2423160" y="2514600"/>
            <a:ext cx="1188720" cy="1051560"/>
          </a:xfrm>
          <a:prstGeom prst="rect">
            <a:avLst/>
          </a:prstGeom>
          <a:noFill/>
          <a:ln/>
        </p:spPr>
        <p:txBody>
          <a:bodyPr wrap="square" lIns="0" tIns="0" rIns="0" bIns="0" rtlCol="0" anchor="ctr"/>
          <a:lstStyle/>
          <a:p>
            <a:pPr indent="0" marL="0">
              <a:buNone/>
            </a:pPr>
            <a:r>
              <a:rPr lang="en-US" sz="1500" dirty="0">
                <a:solidFill>
                  <a:srgbClr val="5B6478"/>
                </a:solidFill>
              </a:rPr>
              <a:t>Accuracy</a:t>
            </a:r>
            <a:endParaRPr lang="en-US" sz="1500" dirty="0"/>
          </a:p>
        </p:txBody>
      </p:sp>
      <p:sp>
        <p:nvSpPr>
          <p:cNvPr id="9" name="Shape 7"/>
          <p:cNvSpPr/>
          <p:nvPr/>
        </p:nvSpPr>
        <p:spPr>
          <a:xfrm>
            <a:off x="548640" y="3703320"/>
            <a:ext cx="3108960" cy="1051560"/>
          </a:xfrm>
          <a:prstGeom prst="roundRect">
            <a:avLst>
              <a:gd name="adj" fmla="val 6957"/>
            </a:avLst>
          </a:prstGeom>
          <a:solidFill>
            <a:schemeClr val="bg2"/>
          </a:solidFill>
          <a:ln/>
        </p:spPr>
      </p:sp>
      <p:sp>
        <p:nvSpPr>
          <p:cNvPr id="10" name="Text 8"/>
          <p:cNvSpPr txBox="1"/>
          <p:nvPr/>
        </p:nvSpPr>
        <p:spPr>
          <a:xfrm>
            <a:off x="731520" y="3703320"/>
            <a:ext cx="173736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0.730</a:t>
            </a:r>
            <a:endParaRPr lang="en-US" sz="3600" dirty="0"/>
          </a:p>
        </p:txBody>
      </p:sp>
      <p:sp>
        <p:nvSpPr>
          <p:cNvPr id="11" name="Text 9"/>
          <p:cNvSpPr txBox="1"/>
          <p:nvPr/>
        </p:nvSpPr>
        <p:spPr>
          <a:xfrm>
            <a:off x="2423160" y="3703320"/>
            <a:ext cx="1188720" cy="1051560"/>
          </a:xfrm>
          <a:prstGeom prst="rect">
            <a:avLst/>
          </a:prstGeom>
          <a:noFill/>
          <a:ln/>
        </p:spPr>
        <p:txBody>
          <a:bodyPr wrap="square" lIns="0" tIns="0" rIns="0" bIns="0" rtlCol="0" anchor="ctr"/>
          <a:lstStyle/>
          <a:p>
            <a:pPr indent="0" marL="0">
              <a:buNone/>
            </a:pPr>
            <a:r>
              <a:rPr lang="en-US" sz="1500" dirty="0">
                <a:solidFill>
                  <a:srgbClr val="5B6478"/>
                </a:solidFill>
              </a:rPr>
              <a:t>Sensitivity</a:t>
            </a:r>
            <a:endParaRPr lang="en-US" sz="1500" dirty="0"/>
          </a:p>
        </p:txBody>
      </p:sp>
      <p:sp>
        <p:nvSpPr>
          <p:cNvPr id="12" name="Shape 10"/>
          <p:cNvSpPr/>
          <p:nvPr/>
        </p:nvSpPr>
        <p:spPr>
          <a:xfrm>
            <a:off x="548640" y="4892040"/>
            <a:ext cx="3108960" cy="1051560"/>
          </a:xfrm>
          <a:prstGeom prst="roundRect">
            <a:avLst>
              <a:gd name="adj" fmla="val 6957"/>
            </a:avLst>
          </a:prstGeom>
          <a:solidFill>
            <a:schemeClr val="bg2"/>
          </a:solidFill>
          <a:ln/>
        </p:spPr>
      </p:sp>
      <p:sp>
        <p:nvSpPr>
          <p:cNvPr id="13" name="Text 11"/>
          <p:cNvSpPr txBox="1"/>
          <p:nvPr/>
        </p:nvSpPr>
        <p:spPr>
          <a:xfrm>
            <a:off x="731520" y="4892040"/>
            <a:ext cx="173736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0.969</a:t>
            </a:r>
            <a:endParaRPr lang="en-US" sz="3600" dirty="0"/>
          </a:p>
        </p:txBody>
      </p:sp>
      <p:sp>
        <p:nvSpPr>
          <p:cNvPr id="14" name="Text 12"/>
          <p:cNvSpPr txBox="1"/>
          <p:nvPr/>
        </p:nvSpPr>
        <p:spPr>
          <a:xfrm>
            <a:off x="2423160" y="4892040"/>
            <a:ext cx="1188720" cy="1051560"/>
          </a:xfrm>
          <a:prstGeom prst="rect">
            <a:avLst/>
          </a:prstGeom>
          <a:noFill/>
          <a:ln/>
        </p:spPr>
        <p:txBody>
          <a:bodyPr wrap="square" lIns="0" tIns="0" rIns="0" bIns="0" rtlCol="0" anchor="ctr"/>
          <a:lstStyle/>
          <a:p>
            <a:pPr indent="0" marL="0">
              <a:buNone/>
            </a:pPr>
            <a:r>
              <a:rPr lang="en-US" sz="1500" dirty="0">
                <a:solidFill>
                  <a:srgbClr val="5B6478"/>
                </a:solidFill>
              </a:rPr>
              <a:t>Specificity</a:t>
            </a:r>
            <a:endParaRPr lang="en-US" sz="1500" dirty="0"/>
          </a:p>
        </p:txBody>
      </p:sp>
      <p:sp>
        <p:nvSpPr>
          <p:cNvPr id="15" name="Text 13"/>
          <p:cNvSpPr txBox="1"/>
          <p:nvPr/>
        </p:nvSpPr>
        <p:spPr>
          <a:xfrm>
            <a:off x="548640" y="6080760"/>
            <a:ext cx="3108960" cy="274320"/>
          </a:xfrm>
          <a:prstGeom prst="rect">
            <a:avLst/>
          </a:prstGeom>
          <a:noFill/>
          <a:ln/>
        </p:spPr>
        <p:txBody>
          <a:bodyPr wrap="square" lIns="0" tIns="0" rIns="0" bIns="0" rtlCol="0" anchor="t"/>
          <a:lstStyle/>
          <a:p>
            <a:pPr indent="0" marL="0">
              <a:buNone/>
            </a:pPr>
            <a:r>
              <a:rPr lang="en-US" sz="1100" i="1" dirty="0">
                <a:solidFill>
                  <a:srgbClr val="5B6478"/>
                </a:solidFill>
              </a:rPr>
              <a:t>20 DRIVE test images, mean</a:t>
            </a:r>
            <a:endParaRPr lang="en-US" sz="1100" dirty="0"/>
          </a:p>
        </p:txBody>
      </p:sp>
      <p:graphicFrame>
        <p:nvGraphicFramePr>
          <p:cNvPr id="16" name="Chart 0" descr=""/>
          <p:cNvGraphicFramePr/>
          <p:nvPr/>
        </p:nvGraphicFramePr>
        <p:xfrm>
          <a:off x="4023360" y="1280160"/>
          <a:ext cx="758952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Comparable to published unsupervised methods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4023360"/>
                <a:gridCol w="914400"/>
                <a:gridCol w="914400"/>
                <a:gridCol w="91440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Method (DRIVE)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Sp</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Acc</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Chaudhuri et al. 1989 — matched filter</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0.877</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Zana &amp; Klein 2001 — morphology</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0.697</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0.938</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Mendonça &amp; Campilho 2006</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0.734</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0.976</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0.945</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Nguyen et al. 2013 — multi-scale line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0.941</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Azzopardi et al. 2015 — B-COSFIRE</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0.766</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0.970</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rgbClr val="1B1B1F"/>
                          </a:solidFill>
                          <a:latin typeface="Calibri" pitchFamily="34" charset="0"/>
                          <a:ea typeface="Calibri" pitchFamily="34" charset="-122"/>
                          <a:cs typeface="Calibri" pitchFamily="34" charset="-120"/>
                        </a:rPr>
                        <a:t>0.944</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02920">
                <a:tc>
                  <a:txBody>
                    <a:bodyPr/>
                    <a:lstStyle/>
                    <a:p>
                      <a:pPr indent="0" marL="0">
                        <a:buNone/>
                      </a:pPr>
                      <a:r>
                        <a:rPr lang="en-US" sz="1400" b="1" dirty="0">
                          <a:solidFill>
                            <a:srgbClr val="E2583E"/>
                          </a:solidFill>
                          <a:latin typeface="Calibri" pitchFamily="34" charset="0"/>
                          <a:ea typeface="Calibri" pitchFamily="34" charset="-122"/>
                          <a:cs typeface="Calibri" pitchFamily="34" charset="-120"/>
                        </a:rPr>
                        <a:t>This work (test split)</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1B1B1F"/>
                          </a:solidFill>
                          <a:latin typeface="Calibri" pitchFamily="34" charset="0"/>
                          <a:ea typeface="Calibri" pitchFamily="34" charset="-122"/>
                          <a:cs typeface="Calibri" pitchFamily="34" charset="-120"/>
                        </a:rPr>
                        <a:t>0.730</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1B1B1F"/>
                          </a:solidFill>
                          <a:latin typeface="Calibri" pitchFamily="34" charset="0"/>
                          <a:ea typeface="Calibri" pitchFamily="34" charset="-122"/>
                          <a:cs typeface="Calibri" pitchFamily="34" charset="-120"/>
                        </a:rPr>
                        <a:t>0.969</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b="1" dirty="0">
                          <a:solidFill>
                            <a:srgbClr val="1B1B1F"/>
                          </a:solidFill>
                          <a:latin typeface="Calibri" pitchFamily="34" charset="0"/>
                          <a:ea typeface="Calibri" pitchFamily="34" charset="-122"/>
                          <a:cs typeface="Calibri" pitchFamily="34" charset="-120"/>
                        </a:rPr>
                        <a:t>0.938</a:t>
                      </a:r>
                      <a:endParaRPr lang="en-US" sz="14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4" name="Text 1"/>
          <p:cNvSpPr txBox="1"/>
          <p:nvPr/>
        </p:nvSpPr>
        <p:spPr>
          <a:xfrm>
            <a:off x="548640" y="5074920"/>
            <a:ext cx="6766560" cy="320040"/>
          </a:xfrm>
          <a:prstGeom prst="rect">
            <a:avLst/>
          </a:prstGeom>
          <a:noFill/>
          <a:ln/>
        </p:spPr>
        <p:txBody>
          <a:bodyPr wrap="square" lIns="0" tIns="0" rIns="0" bIns="0" rtlCol="0" anchor="t"/>
          <a:lstStyle/>
          <a:p>
            <a:pPr indent="0" marL="0">
              <a:buNone/>
            </a:pPr>
            <a:r>
              <a:rPr lang="en-US" sz="1100" i="1" dirty="0">
                <a:solidFill>
                  <a:srgbClr val="5B6478"/>
                </a:solidFill>
              </a:rPr>
              <a:t>Published values as reported in the original papers / Fraz et al. 2012 survey.</a:t>
            </a:r>
            <a:endParaRPr lang="en-US" sz="1100" dirty="0"/>
          </a:p>
        </p:txBody>
      </p:sp>
      <p:sp>
        <p:nvSpPr>
          <p:cNvPr id="5" name="Text 2"/>
          <p:cNvSpPr txBox="1"/>
          <p:nvPr/>
        </p:nvSpPr>
        <p:spPr>
          <a:xfrm>
            <a:off x="548640" y="5440680"/>
            <a:ext cx="6766560" cy="731520"/>
          </a:xfrm>
          <a:prstGeom prst="rect">
            <a:avLst/>
          </a:prstGeom>
          <a:noFill/>
          <a:ln/>
        </p:spPr>
        <p:txBody>
          <a:bodyPr wrap="square" lIns="0" tIns="0" rIns="0" bIns="0" rtlCol="0" anchor="t"/>
          <a:lstStyle/>
          <a:p>
            <a:pPr indent="0" marL="0">
              <a:buNone/>
            </a:pPr>
            <a:r>
              <a:rPr lang="en-US" sz="1500" dirty="0">
                <a:solidFill>
                  <a:schemeClr val="tx1"/>
                </a:solidFill>
              </a:rPr>
              <a:t>Our pipeline sits in the same accuracy band as classical unsupervised methods, while adding something none of them produce: a per-image clinical risk value.</a:t>
            </a:r>
            <a:endParaRPr lang="en-US" sz="1500" dirty="0"/>
          </a:p>
        </p:txBody>
      </p:sp>
      <p:pic>
        <p:nvPicPr>
          <p:cNvPr id="6" name="Image 0" descr="/home/user/dip_project/presentation/assets/overlay_01.png">    </p:cNvPr>
          <p:cNvPicPr>
            <a:picLocks noChangeAspect="1"/>
          </p:cNvPicPr>
          <p:nvPr/>
        </p:nvPicPr>
        <p:blipFill>
          <a:blip r:embed="rId1"/>
          <a:stretch>
            <a:fillRect/>
          </a:stretch>
        </p:blipFill>
        <p:spPr>
          <a:xfrm>
            <a:off x="7818120" y="1325880"/>
            <a:ext cx="3848230" cy="3977640"/>
          </a:xfrm>
          <a:prstGeom prst="rect">
            <a:avLst/>
          </a:prstGeom>
        </p:spPr>
      </p:pic>
      <p:sp>
        <p:nvSpPr>
          <p:cNvPr id="7" name="Text 3"/>
          <p:cNvSpPr txBox="1"/>
          <p:nvPr/>
        </p:nvSpPr>
        <p:spPr>
          <a:xfrm>
            <a:off x="7589520" y="5440680"/>
            <a:ext cx="4069080" cy="548640"/>
          </a:xfrm>
          <a:prstGeom prst="rect">
            <a:avLst/>
          </a:prstGeom>
          <a:noFill/>
          <a:ln/>
        </p:spPr>
        <p:txBody>
          <a:bodyPr wrap="square" lIns="0" tIns="0" rIns="0" bIns="0" rtlCol="0" anchor="t"/>
          <a:lstStyle/>
          <a:p>
            <a:pPr algn="ctr" indent="0" marL="0">
              <a:buNone/>
            </a:pPr>
            <a:r>
              <a:rPr lang="en-US" sz="1300" b="1" dirty="0">
                <a:solidFill>
                  <a:srgbClr val="2A9D8F"/>
                </a:solidFill>
              </a:rPr>
              <a:t>Green </a:t>
            </a:r>
            <a:pPr algn="ctr" indent="0" marL="0">
              <a:buNone/>
            </a:pPr>
            <a:r>
              <a:rPr lang="en-US" sz="1300" dirty="0">
                <a:solidFill>
                  <a:schemeClr val="tx1"/>
                </a:solidFill>
              </a:rPr>
              <a:t>correct  ·  </a:t>
            </a:r>
            <a:pPr algn="ctr" indent="0" marL="0">
              <a:buNone/>
            </a:pPr>
            <a:r>
              <a:rPr lang="en-US" sz="1300" b="1" dirty="0">
                <a:solidFill>
                  <a:srgbClr val="E2583E"/>
                </a:solidFill>
              </a:rPr>
              <a:t>Red </a:t>
            </a:r>
            <a:pPr algn="ctr" indent="0" marL="0">
              <a:buNone/>
            </a:pPr>
            <a:r>
              <a:rPr lang="en-US" sz="1300" dirty="0">
                <a:solidFill>
                  <a:schemeClr val="tx1"/>
                </a:solidFill>
              </a:rPr>
              <a:t>false vessel  ·  </a:t>
            </a:r>
            <a:pPr algn="ctr" indent="0" marL="0">
              <a:buNone/>
            </a:pPr>
            <a:r>
              <a:rPr lang="en-US" sz="1300" b="1" dirty="0">
                <a:solidFill>
                  <a:srgbClr val="1C7293"/>
                </a:solidFill>
              </a:rPr>
              <a:t>Blue </a:t>
            </a:r>
            <a:pPr algn="ctr" indent="0" marL="0">
              <a:buNone/>
            </a:pPr>
            <a:r>
              <a:rPr lang="en-US" sz="1300" dirty="0">
                <a:solidFill>
                  <a:schemeClr val="tx1"/>
                </a:solidFill>
              </a:rPr>
              <a:t>missed (mostly capillaries)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Ablation: every module earns its place</a:t>
            </a:r>
            <a:endParaRPr lang="en-US" sz="3000" dirty="0"/>
          </a:p>
        </p:txBody>
      </p:sp>
      <p:graphicFrame>
        <p:nvGraphicFramePr>
          <p:cNvPr id="3" name="Chart 0"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371600"/>
            <a:ext cx="3749040" cy="1417320"/>
          </a:xfrm>
          <a:prstGeom prst="roundRect">
            <a:avLst>
              <a:gd name="adj" fmla="val 5161"/>
            </a:avLst>
          </a:prstGeom>
          <a:solidFill>
            <a:schemeClr val="bg2"/>
          </a:solidFill>
          <a:ln/>
        </p:spPr>
      </p:sp>
      <p:sp>
        <p:nvSpPr>
          <p:cNvPr id="5" name="Text 2"/>
          <p:cNvSpPr txBox="1"/>
          <p:nvPr/>
        </p:nvSpPr>
        <p:spPr>
          <a:xfrm>
            <a:off x="8046720" y="1463040"/>
            <a:ext cx="33832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−0.051</a:t>
            </a:r>
            <a:endParaRPr lang="en-US" sz="2200" dirty="0"/>
          </a:p>
        </p:txBody>
      </p:sp>
      <p:sp>
        <p:nvSpPr>
          <p:cNvPr id="6" name="Text 3"/>
          <p:cNvSpPr txBox="1"/>
          <p:nvPr/>
        </p:nvSpPr>
        <p:spPr>
          <a:xfrm>
            <a:off x="8046720" y="1920240"/>
            <a:ext cx="3383280" cy="822960"/>
          </a:xfrm>
          <a:prstGeom prst="rect">
            <a:avLst/>
          </a:prstGeom>
          <a:noFill/>
          <a:ln/>
        </p:spPr>
        <p:txBody>
          <a:bodyPr wrap="square" lIns="0" tIns="0" rIns="0" bIns="0" rtlCol="0" anchor="t"/>
          <a:lstStyle/>
          <a:p>
            <a:pPr indent="0" marL="0">
              <a:buNone/>
            </a:pPr>
            <a:r>
              <a:rPr lang="en-US" sz="1300" b="1" dirty="0">
                <a:solidFill>
                  <a:srgbClr val="14213D"/>
                </a:solidFill>
              </a:rPr>
              <a:t>CLAHE: </a:t>
            </a:r>
            <a:pPr indent="0" marL="0">
              <a:buNone/>
            </a:pPr>
            <a:r>
              <a:rPr lang="en-US" sz="1300" dirty="0">
                <a:solidFill>
                  <a:schemeClr val="tx1"/>
                </a:solidFill>
              </a:rPr>
              <a:t>Largest single contribution — local contrast is what makes thin vessels visible.</a:t>
            </a:r>
            <a:endParaRPr lang="en-US" sz="1300" dirty="0"/>
          </a:p>
        </p:txBody>
      </p:sp>
      <p:sp>
        <p:nvSpPr>
          <p:cNvPr id="7" name="Shape 4"/>
          <p:cNvSpPr/>
          <p:nvPr/>
        </p:nvSpPr>
        <p:spPr>
          <a:xfrm>
            <a:off x="7863840" y="2971800"/>
            <a:ext cx="3749040" cy="1417320"/>
          </a:xfrm>
          <a:prstGeom prst="roundRect">
            <a:avLst>
              <a:gd name="adj" fmla="val 5161"/>
            </a:avLst>
          </a:prstGeom>
          <a:solidFill>
            <a:schemeClr val="bg2"/>
          </a:solidFill>
          <a:ln/>
        </p:spPr>
      </p:sp>
      <p:sp>
        <p:nvSpPr>
          <p:cNvPr id="8" name="Text 5"/>
          <p:cNvSpPr txBox="1"/>
          <p:nvPr/>
        </p:nvSpPr>
        <p:spPr>
          <a:xfrm>
            <a:off x="8046720" y="3063240"/>
            <a:ext cx="33832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−0.015</a:t>
            </a:r>
            <a:endParaRPr lang="en-US" sz="2200" dirty="0"/>
          </a:p>
        </p:txBody>
      </p:sp>
      <p:sp>
        <p:nvSpPr>
          <p:cNvPr id="9" name="Text 6"/>
          <p:cNvSpPr txBox="1"/>
          <p:nvPr/>
        </p:nvSpPr>
        <p:spPr>
          <a:xfrm>
            <a:off x="8046720" y="3520440"/>
            <a:ext cx="3383280" cy="822960"/>
          </a:xfrm>
          <a:prstGeom prst="rect">
            <a:avLst/>
          </a:prstGeom>
          <a:noFill/>
          <a:ln/>
        </p:spPr>
        <p:txBody>
          <a:bodyPr wrap="square" lIns="0" tIns="0" rIns="0" bIns="0" rtlCol="0" anchor="t"/>
          <a:lstStyle/>
          <a:p>
            <a:pPr indent="0" marL="0">
              <a:buNone/>
            </a:pPr>
            <a:r>
              <a:rPr lang="en-US" sz="1300" b="1" dirty="0">
                <a:solidFill>
                  <a:srgbClr val="14213D"/>
                </a:solidFill>
              </a:rPr>
              <a:t>Multi-scale Frangi: </a:t>
            </a:r>
            <a:pPr indent="0" marL="0">
              <a:buNone/>
            </a:pPr>
            <a:r>
              <a:rPr lang="en-US" sz="1300" dirty="0">
                <a:solidFill>
                  <a:schemeClr val="tx1"/>
                </a:solidFill>
              </a:rPr>
              <a:t>One scale cannot fit both capillaries and main arcades.</a:t>
            </a:r>
            <a:endParaRPr lang="en-US" sz="1300" dirty="0"/>
          </a:p>
        </p:txBody>
      </p:sp>
      <p:sp>
        <p:nvSpPr>
          <p:cNvPr id="10" name="Shape 7"/>
          <p:cNvSpPr/>
          <p:nvPr/>
        </p:nvSpPr>
        <p:spPr>
          <a:xfrm>
            <a:off x="7863840" y="4572000"/>
            <a:ext cx="3749040" cy="1417320"/>
          </a:xfrm>
          <a:prstGeom prst="roundRect">
            <a:avLst>
              <a:gd name="adj" fmla="val 5161"/>
            </a:avLst>
          </a:prstGeom>
          <a:solidFill>
            <a:schemeClr val="bg2"/>
          </a:solidFill>
          <a:ln/>
        </p:spPr>
      </p:sp>
      <p:sp>
        <p:nvSpPr>
          <p:cNvPr id="11" name="Text 8"/>
          <p:cNvSpPr txBox="1"/>
          <p:nvPr/>
        </p:nvSpPr>
        <p:spPr>
          <a:xfrm>
            <a:off x="8046720" y="4663440"/>
            <a:ext cx="33832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−0.006 / −0.002</a:t>
            </a:r>
            <a:endParaRPr lang="en-US" sz="2200" dirty="0"/>
          </a:p>
        </p:txBody>
      </p:sp>
      <p:sp>
        <p:nvSpPr>
          <p:cNvPr id="12" name="Text 9"/>
          <p:cNvSpPr txBox="1"/>
          <p:nvPr/>
        </p:nvSpPr>
        <p:spPr>
          <a:xfrm>
            <a:off x="8046720" y="5120640"/>
            <a:ext cx="3383280" cy="822960"/>
          </a:xfrm>
          <a:prstGeom prst="rect">
            <a:avLst/>
          </a:prstGeom>
          <a:noFill/>
          <a:ln/>
        </p:spPr>
        <p:txBody>
          <a:bodyPr wrap="square" lIns="0" tIns="0" rIns="0" bIns="0" rtlCol="0" anchor="t"/>
          <a:lstStyle/>
          <a:p>
            <a:pPr indent="0" marL="0">
              <a:buNone/>
            </a:pPr>
            <a:r>
              <a:rPr lang="en-US" sz="1300" b="1" dirty="0">
                <a:solidFill>
                  <a:srgbClr val="14213D"/>
                </a:solidFill>
              </a:rPr>
              <a:t>Restoration / DFT: </a:t>
            </a:r>
            <a:pPr indent="0" marL="0">
              <a:buNone/>
            </a:pPr>
            <a:r>
              <a:rPr lang="en-US" sz="1300" dirty="0">
                <a:solidFill>
                  <a:schemeClr val="tx1"/>
                </a:solidFill>
              </a:rPr>
              <a:t>Small but consistent gains on top of CLAHE.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Explainability: why image 08 scores 0.498</a:t>
            </a:r>
            <a:endParaRPr lang="en-US" sz="3000" dirty="0"/>
          </a:p>
        </p:txBody>
      </p:sp>
      <p:pic>
        <p:nvPicPr>
          <p:cNvPr id="3" name="Image 0" descr="/home/user/dip_project/presentation/assets/skel_08.png">    </p:cNvPr>
          <p:cNvPicPr>
            <a:picLocks noChangeAspect="1"/>
          </p:cNvPicPr>
          <p:nvPr/>
        </p:nvPicPr>
        <p:blipFill>
          <a:blip r:embed="rId1"/>
          <a:stretch>
            <a:fillRect/>
          </a:stretch>
        </p:blipFill>
        <p:spPr>
          <a:xfrm>
            <a:off x="548640" y="1325880"/>
            <a:ext cx="4644416" cy="4800600"/>
          </a:xfrm>
          <a:prstGeom prst="rect">
            <a:avLst/>
          </a:prstGeom>
        </p:spPr>
      </p:pic>
      <p:graphicFrame>
        <p:nvGraphicFramePr>
          <p:cNvPr id="4" name="Chart 0" descr=""/>
          <p:cNvGraphicFramePr/>
          <p:nvPr/>
        </p:nvGraphicFramePr>
        <p:xfrm>
          <a:off x="5669280" y="1325880"/>
          <a:ext cx="5943600" cy="310896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669280" y="4617720"/>
            <a:ext cx="5943600" cy="1508760"/>
          </a:xfrm>
          <a:prstGeom prst="roundRect">
            <a:avLst>
              <a:gd name="adj" fmla="val 4848"/>
            </a:avLst>
          </a:prstGeom>
          <a:solidFill>
            <a:schemeClr val="bg2"/>
          </a:solidFill>
          <a:ln/>
        </p:spPr>
      </p:sp>
      <p:sp>
        <p:nvSpPr>
          <p:cNvPr id="6" name="Shape 2"/>
          <p:cNvSpPr/>
          <p:nvPr/>
        </p:nvSpPr>
        <p:spPr>
          <a:xfrm>
            <a:off x="5852160" y="5029200"/>
            <a:ext cx="594360" cy="594360"/>
          </a:xfrm>
          <a:prstGeom prst="ellipse">
            <a:avLst/>
          </a:prstGeom>
          <a:solidFill>
            <a:schemeClr val="accent3"/>
          </a:solidFill>
          <a:ln/>
        </p:spPr>
      </p:sp>
      <p:pic>
        <p:nvPicPr>
          <p:cNvPr id="7" name="Image 1" descr="preencoded.png">    </p:cNvPr>
          <p:cNvPicPr>
            <a:picLocks noChangeAspect="1"/>
          </p:cNvPicPr>
          <p:nvPr/>
        </p:nvPicPr>
        <p:blipFill>
          <a:blip r:embed="rId3"/>
          <a:stretch>
            <a:fillRect/>
          </a:stretch>
        </p:blipFill>
        <p:spPr>
          <a:xfrm>
            <a:off x="5994806" y="5171846"/>
            <a:ext cx="309067" cy="309067"/>
          </a:xfrm>
          <a:prstGeom prst="rect">
            <a:avLst/>
          </a:prstGeom>
        </p:spPr>
      </p:pic>
      <p:sp>
        <p:nvSpPr>
          <p:cNvPr id="8" name="Text 3"/>
          <p:cNvSpPr txBox="1"/>
          <p:nvPr/>
        </p:nvSpPr>
        <p:spPr>
          <a:xfrm>
            <a:off x="6629400" y="4663440"/>
            <a:ext cx="4846320" cy="1417320"/>
          </a:xfrm>
          <a:prstGeom prst="rect">
            <a:avLst/>
          </a:prstGeom>
          <a:noFill/>
          <a:ln/>
        </p:spPr>
        <p:txBody>
          <a:bodyPr wrap="square" lIns="0" tIns="0" rIns="0" bIns="0" rtlCol="0" anchor="ctr"/>
          <a:lstStyle/>
          <a:p>
            <a:pPr indent="0" marL="0">
              <a:buNone/>
            </a:pPr>
            <a:r>
              <a:rPr lang="en-US" sz="1400" b="1" dirty="0">
                <a:solidFill>
                  <a:srgbClr val="14213D"/>
                </a:solidFill>
              </a:rPr>
              <a:t>Reading it: </a:t>
            </a:r>
            <a:pPr indent="0" marL="0">
              <a:buNone/>
            </a:pPr>
            <a:r>
              <a:rPr lang="en-US" sz="1400" dirty="0">
                <a:solidFill>
                  <a:schemeClr val="tx1"/>
                </a:solidFill>
              </a:rPr>
              <a:t>tortuosity is at its maximum because the most tortuous "segments" (magenta) are the rims of exudates. Lesions push the score up through a term a clinician can see and verify on the image.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Risk stratification and robustness</a:t>
            </a:r>
            <a:endParaRPr lang="en-US" sz="3000" dirty="0"/>
          </a:p>
        </p:txBody>
      </p:sp>
      <p:graphicFrame>
        <p:nvGraphicFramePr>
          <p:cNvPr id="3" name="Chart 0" descr=""/>
          <p:cNvGraphicFramePr/>
          <p:nvPr/>
        </p:nvGraphicFramePr>
        <p:xfrm>
          <a:off x="548640" y="13258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48640" y="4800600"/>
            <a:ext cx="4206240" cy="1325880"/>
          </a:xfrm>
          <a:prstGeom prst="roundRect">
            <a:avLst>
              <a:gd name="adj" fmla="val 5517"/>
            </a:avLst>
          </a:prstGeom>
          <a:solidFill>
            <a:schemeClr val="bg2"/>
          </a:solidFill>
          <a:ln/>
        </p:spPr>
      </p:sp>
      <p:sp>
        <p:nvSpPr>
          <p:cNvPr id="5" name="Text 2"/>
          <p:cNvSpPr txBox="1"/>
          <p:nvPr/>
        </p:nvSpPr>
        <p:spPr>
          <a:xfrm>
            <a:off x="731520" y="4846320"/>
            <a:ext cx="3840480" cy="1234440"/>
          </a:xfrm>
          <a:prstGeom prst="rect">
            <a:avLst/>
          </a:prstGeom>
          <a:noFill/>
          <a:ln/>
        </p:spPr>
        <p:txBody>
          <a:bodyPr wrap="square" lIns="0" tIns="0" rIns="0" bIns="0" rtlCol="0" anchor="ctr"/>
          <a:lstStyle/>
          <a:p>
            <a:pPr indent="0" marL="0">
              <a:buNone/>
            </a:pPr>
            <a:r>
              <a:rPr lang="en-US" sz="2200" b="1" dirty="0">
                <a:solidFill>
                  <a:srgbClr val="E2583E"/>
                </a:solidFill>
                <a:latin typeface="Cambria" pitchFamily="34" charset="0"/>
                <a:ea typeface="Cambria" pitchFamily="34" charset="-122"/>
                <a:cs typeface="Cambria" pitchFamily="34" charset="-120"/>
              </a:rPr>
              <a:t>0.508 vs 0.415</a:t>
            </a:r>
            <a:endParaRPr lang="en-US" sz="1500" dirty="0"/>
          </a:p>
          <a:p>
            <a:pPr indent="0" marL="0">
              <a:buNone/>
            </a:pPr>
            <a:r>
              <a:rPr lang="en-US" sz="1300" dirty="0">
                <a:solidFill>
                  <a:schemeClr val="tx1"/>
                </a:solidFill>
              </a:rPr>
              <a:t>mean score, 7 early-DR images vs the rest (p = 0.079)</a:t>
            </a:r>
            <a:endParaRPr lang="en-US" sz="1500" dirty="0"/>
          </a:p>
        </p:txBody>
      </p:sp>
      <p:sp>
        <p:nvSpPr>
          <p:cNvPr id="6" name="Shape 3"/>
          <p:cNvSpPr/>
          <p:nvPr/>
        </p:nvSpPr>
        <p:spPr>
          <a:xfrm>
            <a:off x="5120640" y="1325880"/>
            <a:ext cx="6492240" cy="1051560"/>
          </a:xfrm>
          <a:prstGeom prst="roundRect">
            <a:avLst>
              <a:gd name="adj" fmla="val 6957"/>
            </a:avLst>
          </a:prstGeom>
          <a:solidFill>
            <a:schemeClr val="bg2"/>
          </a:solidFill>
          <a:ln/>
        </p:spPr>
      </p:sp>
      <p:sp>
        <p:nvSpPr>
          <p:cNvPr id="7" name="Text 4"/>
          <p:cNvSpPr txBox="1"/>
          <p:nvPr/>
        </p:nvSpPr>
        <p:spPr>
          <a:xfrm>
            <a:off x="5303520" y="1325880"/>
            <a:ext cx="1828800" cy="105156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&lt; 0.01</a:t>
            </a:r>
            <a:endParaRPr lang="en-US" sz="2600" dirty="0"/>
          </a:p>
        </p:txBody>
      </p:sp>
      <p:sp>
        <p:nvSpPr>
          <p:cNvPr id="8" name="Text 5"/>
          <p:cNvSpPr txBox="1"/>
          <p:nvPr/>
        </p:nvSpPr>
        <p:spPr>
          <a:xfrm>
            <a:off x="7178040" y="1325880"/>
            <a:ext cx="4297680" cy="1051560"/>
          </a:xfrm>
          <a:prstGeom prst="rect">
            <a:avLst/>
          </a:prstGeom>
          <a:noFill/>
          <a:ln/>
        </p:spPr>
        <p:txBody>
          <a:bodyPr wrap="square" lIns="0" tIns="0" rIns="0" bIns="0" rtlCol="0" anchor="ctr"/>
          <a:lstStyle/>
          <a:p>
            <a:pPr indent="0" marL="0">
              <a:buNone/>
            </a:pPr>
            <a:r>
              <a:rPr lang="en-US" sz="1500" dirty="0">
                <a:solidFill>
                  <a:schemeClr val="tx1"/>
                </a:solidFill>
              </a:rPr>
              <a:t>Dice drop under JPEG compression at quality 70–80</a:t>
            </a:r>
            <a:endParaRPr lang="en-US" sz="1500" dirty="0"/>
          </a:p>
        </p:txBody>
      </p:sp>
      <p:sp>
        <p:nvSpPr>
          <p:cNvPr id="9" name="Shape 6"/>
          <p:cNvSpPr/>
          <p:nvPr/>
        </p:nvSpPr>
        <p:spPr>
          <a:xfrm>
            <a:off x="5120640" y="2542032"/>
            <a:ext cx="6492240" cy="1051560"/>
          </a:xfrm>
          <a:prstGeom prst="roundRect">
            <a:avLst>
              <a:gd name="adj" fmla="val 6957"/>
            </a:avLst>
          </a:prstGeom>
          <a:solidFill>
            <a:schemeClr val="bg2"/>
          </a:solidFill>
          <a:ln/>
        </p:spPr>
      </p:sp>
      <p:sp>
        <p:nvSpPr>
          <p:cNvPr id="10" name="Text 7"/>
          <p:cNvSpPr txBox="1"/>
          <p:nvPr/>
        </p:nvSpPr>
        <p:spPr>
          <a:xfrm>
            <a:off x="5303520" y="2542032"/>
            <a:ext cx="1828800" cy="105156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0.05</a:t>
            </a:r>
            <a:endParaRPr lang="en-US" sz="2600" dirty="0"/>
          </a:p>
        </p:txBody>
      </p:sp>
      <p:sp>
        <p:nvSpPr>
          <p:cNvPr id="11" name="Text 8"/>
          <p:cNvSpPr txBox="1"/>
          <p:nvPr/>
        </p:nvSpPr>
        <p:spPr>
          <a:xfrm>
            <a:off x="7178040" y="2542032"/>
            <a:ext cx="4297680" cy="1051560"/>
          </a:xfrm>
          <a:prstGeom prst="rect">
            <a:avLst/>
          </a:prstGeom>
          <a:noFill/>
          <a:ln/>
        </p:spPr>
        <p:txBody>
          <a:bodyPr wrap="square" lIns="0" tIns="0" rIns="0" bIns="0" rtlCol="0" anchor="ctr"/>
          <a:lstStyle/>
          <a:p>
            <a:pPr indent="0" marL="0">
              <a:buNone/>
            </a:pPr>
            <a:r>
              <a:rPr lang="en-US" sz="1500" dirty="0">
                <a:solidFill>
                  <a:schemeClr val="tx1"/>
                </a:solidFill>
              </a:rPr>
              <a:t>mean risk-score shift under JPEG (was 0.21 before measuring texture on the restored image)</a:t>
            </a:r>
            <a:endParaRPr lang="en-US" sz="1500" dirty="0"/>
          </a:p>
        </p:txBody>
      </p:sp>
      <p:sp>
        <p:nvSpPr>
          <p:cNvPr id="12" name="Shape 9"/>
          <p:cNvSpPr/>
          <p:nvPr/>
        </p:nvSpPr>
        <p:spPr>
          <a:xfrm>
            <a:off x="5120640" y="3758184"/>
            <a:ext cx="6492240" cy="1051560"/>
          </a:xfrm>
          <a:prstGeom prst="roundRect">
            <a:avLst>
              <a:gd name="adj" fmla="val 6957"/>
            </a:avLst>
          </a:prstGeom>
          <a:solidFill>
            <a:schemeClr val="bg2"/>
          </a:solidFill>
          <a:ln/>
        </p:spPr>
      </p:sp>
      <p:sp>
        <p:nvSpPr>
          <p:cNvPr id="13" name="Text 10"/>
          <p:cNvSpPr txBox="1"/>
          <p:nvPr/>
        </p:nvSpPr>
        <p:spPr>
          <a:xfrm>
            <a:off x="5303520" y="3758184"/>
            <a:ext cx="1828800" cy="105156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 4 / 40</a:t>
            </a:r>
            <a:endParaRPr lang="en-US" sz="2600" dirty="0"/>
          </a:p>
        </p:txBody>
      </p:sp>
      <p:sp>
        <p:nvSpPr>
          <p:cNvPr id="14" name="Text 11"/>
          <p:cNvSpPr txBox="1"/>
          <p:nvPr/>
        </p:nvSpPr>
        <p:spPr>
          <a:xfrm>
            <a:off x="7178040" y="3758184"/>
            <a:ext cx="4297680" cy="1051560"/>
          </a:xfrm>
          <a:prstGeom prst="rect">
            <a:avLst/>
          </a:prstGeom>
          <a:noFill/>
          <a:ln/>
        </p:spPr>
        <p:txBody>
          <a:bodyPr wrap="square" lIns="0" tIns="0" rIns="0" bIns="0" rtlCol="0" anchor="ctr"/>
          <a:lstStyle/>
          <a:p>
            <a:pPr indent="0" marL="0">
              <a:buNone/>
            </a:pPr>
            <a:r>
              <a:rPr lang="en-US" sz="1500" dirty="0">
                <a:solidFill>
                  <a:schemeClr val="tx1"/>
                </a:solidFill>
              </a:rPr>
              <a:t>images change band when any single weight moves ±20 %</a:t>
            </a:r>
            <a:endParaRPr lang="en-US" sz="1500" dirty="0"/>
          </a:p>
        </p:txBody>
      </p:sp>
      <p:sp>
        <p:nvSpPr>
          <p:cNvPr id="15" name="Shape 12"/>
          <p:cNvSpPr/>
          <p:nvPr/>
        </p:nvSpPr>
        <p:spPr>
          <a:xfrm>
            <a:off x="5120640" y="4974336"/>
            <a:ext cx="6492240" cy="1051560"/>
          </a:xfrm>
          <a:prstGeom prst="roundRect">
            <a:avLst>
              <a:gd name="adj" fmla="val 6957"/>
            </a:avLst>
          </a:prstGeom>
          <a:solidFill>
            <a:schemeClr val="bg2"/>
          </a:solidFill>
          <a:ln/>
        </p:spPr>
      </p:sp>
      <p:sp>
        <p:nvSpPr>
          <p:cNvPr id="16" name="Text 13"/>
          <p:cNvSpPr txBox="1"/>
          <p:nvPr/>
        </p:nvSpPr>
        <p:spPr>
          <a:xfrm>
            <a:off x="5303520" y="4974336"/>
            <a:ext cx="1828800" cy="105156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0.5 s</a:t>
            </a:r>
            <a:endParaRPr lang="en-US" sz="2600" dirty="0"/>
          </a:p>
        </p:txBody>
      </p:sp>
      <p:sp>
        <p:nvSpPr>
          <p:cNvPr id="17" name="Text 14"/>
          <p:cNvSpPr txBox="1"/>
          <p:nvPr/>
        </p:nvSpPr>
        <p:spPr>
          <a:xfrm>
            <a:off x="7178040" y="4974336"/>
            <a:ext cx="4297680" cy="1051560"/>
          </a:xfrm>
          <a:prstGeom prst="rect">
            <a:avLst/>
          </a:prstGeom>
          <a:noFill/>
          <a:ln/>
        </p:spPr>
        <p:txBody>
          <a:bodyPr wrap="square" lIns="0" tIns="0" rIns="0" bIns="0" rtlCol="0" anchor="ctr"/>
          <a:lstStyle/>
          <a:p>
            <a:pPr indent="0" marL="0">
              <a:buNone/>
            </a:pPr>
            <a:r>
              <a:rPr lang="en-US" sz="1500" dirty="0">
                <a:solidFill>
                  <a:schemeClr val="tx1"/>
                </a:solidFill>
              </a:rPr>
              <a:t>per image on a laptop CPU, no GPU, no training data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Interactive demo (Streamlit)</a:t>
            </a:r>
            <a:endParaRPr lang="en-US" sz="3000" dirty="0"/>
          </a:p>
        </p:txBody>
      </p:sp>
      <p:pic>
        <p:nvPicPr>
          <p:cNvPr id="3" name="Image 0" descr="/home/user/dip_project/presentation/assets/demo_top.png">    </p:cNvPr>
          <p:cNvPicPr>
            <a:picLocks noChangeAspect="1"/>
          </p:cNvPicPr>
          <p:nvPr/>
        </p:nvPicPr>
        <p:blipFill>
          <a:blip r:embed="rId1"/>
          <a:stretch>
            <a:fillRect/>
          </a:stretch>
        </p:blipFill>
        <p:spPr>
          <a:xfrm>
            <a:off x="548640" y="1325880"/>
            <a:ext cx="7863840" cy="4718304"/>
          </a:xfrm>
          <a:prstGeom prst="rect">
            <a:avLst/>
          </a:prstGeom>
        </p:spPr>
      </p:pic>
      <p:sp>
        <p:nvSpPr>
          <p:cNvPr id="4" name="Text 1"/>
          <p:cNvSpPr txBox="1"/>
          <p:nvPr/>
        </p:nvSpPr>
        <p:spPr>
          <a:xfrm>
            <a:off x="8732520" y="1371600"/>
            <a:ext cx="29260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Pick a DRIVE image or upload any fundus photo</a:t>
            </a:r>
            <a:endParaRPr lang="en-US" sz="1500" dirty="0"/>
          </a:p>
          <a:p>
            <a:pPr marL="342900" indent="-342900">
              <a:spcAft>
                <a:spcPts val="1000"/>
              </a:spcAft>
              <a:buSzPct val="100000"/>
              <a:buChar char="•"/>
            </a:pPr>
            <a:r>
              <a:rPr lang="en-US" sz="1500" dirty="0">
                <a:solidFill>
                  <a:schemeClr val="tx1"/>
                </a:solidFill>
              </a:rPr>
              <a:t>Every pipeline stage shown side by side</a:t>
            </a:r>
            <a:endParaRPr lang="en-US" sz="1500" dirty="0"/>
          </a:p>
          <a:p>
            <a:pPr marL="342900" indent="-342900">
              <a:spcAft>
                <a:spcPts val="1000"/>
              </a:spcAft>
              <a:buSzPct val="100000"/>
              <a:buChar char="•"/>
            </a:pPr>
            <a:r>
              <a:rPr lang="en-US" sz="1500" dirty="0">
                <a:solidFill>
                  <a:schemeClr val="tx1"/>
                </a:solidFill>
              </a:rPr>
              <a:t>Sliders for CLAHE, D₀, β, c, γ, min area</a:t>
            </a:r>
            <a:endParaRPr lang="en-US" sz="1500" dirty="0"/>
          </a:p>
          <a:p>
            <a:pPr marL="342900" indent="-342900">
              <a:spcAft>
                <a:spcPts val="1000"/>
              </a:spcAft>
              <a:buSzPct val="100000"/>
              <a:buChar char="•"/>
            </a:pPr>
            <a:r>
              <a:rPr lang="en-US" sz="1500" dirty="0">
                <a:solidFill>
                  <a:schemeClr val="tx1"/>
                </a:solidFill>
              </a:rPr>
              <a:t>Metrics against the expert mask</a:t>
            </a:r>
            <a:endParaRPr lang="en-US" sz="1500" dirty="0"/>
          </a:p>
          <a:p>
            <a:pPr marL="342900" indent="-342900">
              <a:spcAft>
                <a:spcPts val="1000"/>
              </a:spcAft>
              <a:buSzPct val="100000"/>
              <a:buChar char="•"/>
            </a:pPr>
            <a:r>
              <a:rPr lang="en-US" sz="1500" dirty="0">
                <a:solidFill>
                  <a:schemeClr val="tx1"/>
                </a:solidFill>
              </a:rPr>
              <a:t>Risk score with per-feature contributions</a:t>
            </a:r>
            <a:endParaRPr lang="en-US" sz="1500" dirty="0"/>
          </a:p>
        </p:txBody>
      </p:sp>
      <p:sp>
        <p:nvSpPr>
          <p:cNvPr id="5" name="Shape 2"/>
          <p:cNvSpPr/>
          <p:nvPr/>
        </p:nvSpPr>
        <p:spPr>
          <a:xfrm>
            <a:off x="8732520" y="4937760"/>
            <a:ext cx="2880360" cy="777240"/>
          </a:xfrm>
          <a:prstGeom prst="roundRect">
            <a:avLst>
              <a:gd name="adj" fmla="val 9412"/>
            </a:avLst>
          </a:prstGeom>
          <a:solidFill>
            <a:schemeClr val="tx2"/>
          </a:solidFill>
          <a:ln/>
        </p:spPr>
      </p:sp>
      <p:sp>
        <p:nvSpPr>
          <p:cNvPr id="6" name="Text 3"/>
          <p:cNvSpPr txBox="1"/>
          <p:nvPr/>
        </p:nvSpPr>
        <p:spPr>
          <a:xfrm>
            <a:off x="8823960" y="4937760"/>
            <a:ext cx="2697480" cy="77724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streamlit run app/streamlit_app.py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Limitations and future work</a:t>
            </a:r>
            <a:endParaRPr lang="en-US" sz="3000" dirty="0"/>
          </a:p>
        </p:txBody>
      </p:sp>
      <p:sp>
        <p:nvSpPr>
          <p:cNvPr id="3" name="Shape 1"/>
          <p:cNvSpPr/>
          <p:nvPr/>
        </p:nvSpPr>
        <p:spPr>
          <a:xfrm>
            <a:off x="548640" y="1325880"/>
            <a:ext cx="5394960" cy="4800600"/>
          </a:xfrm>
          <a:prstGeom prst="roundRect">
            <a:avLst>
              <a:gd name="adj" fmla="val 1524"/>
            </a:avLst>
          </a:prstGeom>
          <a:solidFill>
            <a:schemeClr val="bg2"/>
          </a:solidFill>
          <a:ln/>
        </p:spPr>
      </p:sp>
      <p:sp>
        <p:nvSpPr>
          <p:cNvPr id="4" name="Shape 2"/>
          <p:cNvSpPr/>
          <p:nvPr/>
        </p:nvSpPr>
        <p:spPr>
          <a:xfrm>
            <a:off x="822960" y="155448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76579" y="1708099"/>
            <a:ext cx="332842" cy="332842"/>
          </a:xfrm>
          <a:prstGeom prst="rect">
            <a:avLst/>
          </a:prstGeom>
        </p:spPr>
      </p:pic>
      <p:sp>
        <p:nvSpPr>
          <p:cNvPr id="6" name="Text 3"/>
          <p:cNvSpPr txBox="1"/>
          <p:nvPr/>
        </p:nvSpPr>
        <p:spPr>
          <a:xfrm>
            <a:off x="1645920" y="1554480"/>
            <a:ext cx="4023360" cy="640080"/>
          </a:xfrm>
          <a:prstGeom prst="rect">
            <a:avLst/>
          </a:prstGeom>
          <a:noFill/>
          <a:ln/>
        </p:spPr>
        <p:txBody>
          <a:bodyPr wrap="square" lIns="0" tIns="0" rIns="0" bIns="0" rtlCol="0" anchor="ctr"/>
          <a:lstStyle/>
          <a:p>
            <a:pPr indent="0" marL="0">
              <a:buNone/>
            </a:pPr>
            <a:r>
              <a:rPr lang="en-US" sz="2200" b="1" dirty="0">
                <a:solidFill>
                  <a:schemeClr val="tx2"/>
                </a:solidFill>
              </a:rPr>
              <a:t>Limitations</a:t>
            </a:r>
            <a:endParaRPr lang="en-US" sz="2200" dirty="0"/>
          </a:p>
        </p:txBody>
      </p:sp>
      <p:sp>
        <p:nvSpPr>
          <p:cNvPr id="7" name="Text 4"/>
          <p:cNvSpPr txBox="1"/>
          <p:nvPr/>
        </p:nvSpPr>
        <p:spPr>
          <a:xfrm>
            <a:off x="822960" y="2514600"/>
            <a:ext cx="4846320" cy="3474720"/>
          </a:xfrm>
          <a:prstGeom prst="rect">
            <a:avLst/>
          </a:prstGeom>
          <a:noFill/>
          <a:ln/>
        </p:spPr>
        <p:txBody>
          <a:bodyPr wrap="square" lIns="0" tIns="0" rIns="0" bIns="0" rtlCol="0" anchor="t"/>
          <a:lstStyle/>
          <a:p>
            <a:pPr marL="342900" indent="-342900">
              <a:spcAft>
                <a:spcPts val="1800"/>
              </a:spcAft>
              <a:buSzPct val="100000"/>
              <a:buChar char="•"/>
            </a:pPr>
            <a:r>
              <a:rPr lang="en-US" sz="1700" dirty="0">
                <a:solidFill>
                  <a:schemeClr val="tx1"/>
                </a:solidFill>
              </a:rPr>
              <a:t>No graded ground truth on DRIVE — the risk score is a sanity-checked screening aid, not a clinical validation</a:t>
            </a:r>
            <a:endParaRPr lang="en-US" sz="1700" dirty="0"/>
          </a:p>
          <a:p>
            <a:pPr marL="342900" indent="-342900">
              <a:spcAft>
                <a:spcPts val="1800"/>
              </a:spcAft>
              <a:buSzPct val="100000"/>
              <a:buChar char="•"/>
            </a:pPr>
            <a:r>
              <a:rPr lang="en-US" sz="1700" dirty="0">
                <a:solidFill>
                  <a:schemeClr val="tx1"/>
                </a:solidFill>
              </a:rPr>
              <a:t>Faintest capillaries are still missed (sensitivity 0.73)</a:t>
            </a:r>
            <a:endParaRPr lang="en-US" sz="1700" dirty="0"/>
          </a:p>
          <a:p>
            <a:pPr marL="342900" indent="-342900">
              <a:spcAft>
                <a:spcPts val="1800"/>
              </a:spcAft>
              <a:buSzPct val="100000"/>
              <a:buChar char="•"/>
            </a:pPr>
            <a:r>
              <a:rPr lang="en-US" sz="1700" dirty="0">
                <a:solidFill>
                  <a:schemeClr val="tx1"/>
                </a:solidFill>
              </a:rPr>
              <a:t>Bright lesion rims can be segmented as small vessel loops</a:t>
            </a:r>
            <a:endParaRPr lang="en-US" sz="1700" dirty="0"/>
          </a:p>
          <a:p>
            <a:pPr marL="342900" indent="-342900">
              <a:spcAft>
                <a:spcPts val="1800"/>
              </a:spcAft>
              <a:buSzPct val="100000"/>
              <a:buChar char="•"/>
            </a:pPr>
            <a:r>
              <a:rPr lang="en-US" sz="1700" dirty="0">
                <a:solidFill>
                  <a:schemeClr val="tx1"/>
                </a:solidFill>
              </a:rPr>
              <a:t>GLCM features carry most of the remaining compression drift</a:t>
            </a:r>
            <a:endParaRPr lang="en-US" sz="1700" dirty="0"/>
          </a:p>
        </p:txBody>
      </p:sp>
      <p:sp>
        <p:nvSpPr>
          <p:cNvPr id="8" name="Shape 5"/>
          <p:cNvSpPr/>
          <p:nvPr/>
        </p:nvSpPr>
        <p:spPr>
          <a:xfrm>
            <a:off x="6217920" y="1325880"/>
            <a:ext cx="5394960" cy="4800600"/>
          </a:xfrm>
          <a:prstGeom prst="roundRect">
            <a:avLst>
              <a:gd name="adj" fmla="val 1524"/>
            </a:avLst>
          </a:prstGeom>
          <a:solidFill>
            <a:schemeClr val="bg2"/>
          </a:solidFill>
          <a:ln/>
        </p:spPr>
      </p:sp>
      <p:sp>
        <p:nvSpPr>
          <p:cNvPr id="9" name="Shape 6"/>
          <p:cNvSpPr/>
          <p:nvPr/>
        </p:nvSpPr>
        <p:spPr>
          <a:xfrm>
            <a:off x="6492240" y="1554480"/>
            <a:ext cx="640080" cy="64008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6645859" y="1708099"/>
            <a:ext cx="332842" cy="332842"/>
          </a:xfrm>
          <a:prstGeom prst="rect">
            <a:avLst/>
          </a:prstGeom>
        </p:spPr>
      </p:pic>
      <p:sp>
        <p:nvSpPr>
          <p:cNvPr id="11" name="Text 7"/>
          <p:cNvSpPr txBox="1"/>
          <p:nvPr/>
        </p:nvSpPr>
        <p:spPr>
          <a:xfrm>
            <a:off x="7315200" y="1554480"/>
            <a:ext cx="4023360" cy="640080"/>
          </a:xfrm>
          <a:prstGeom prst="rect">
            <a:avLst/>
          </a:prstGeom>
          <a:noFill/>
          <a:ln/>
        </p:spPr>
        <p:txBody>
          <a:bodyPr wrap="square" lIns="0" tIns="0" rIns="0" bIns="0" rtlCol="0" anchor="ctr"/>
          <a:lstStyle/>
          <a:p>
            <a:pPr indent="0" marL="0">
              <a:buNone/>
            </a:pPr>
            <a:r>
              <a:rPr lang="en-US" sz="2200" b="1" dirty="0">
                <a:solidFill>
                  <a:schemeClr val="tx2"/>
                </a:solidFill>
              </a:rPr>
              <a:t>Future work</a:t>
            </a:r>
            <a:endParaRPr lang="en-US" sz="2200" dirty="0"/>
          </a:p>
        </p:txBody>
      </p:sp>
      <p:sp>
        <p:nvSpPr>
          <p:cNvPr id="12" name="Text 8"/>
          <p:cNvSpPr txBox="1"/>
          <p:nvPr/>
        </p:nvSpPr>
        <p:spPr>
          <a:xfrm>
            <a:off x="6492240" y="2514600"/>
            <a:ext cx="4846320" cy="3474720"/>
          </a:xfrm>
          <a:prstGeom prst="rect">
            <a:avLst/>
          </a:prstGeom>
          <a:noFill/>
          <a:ln/>
        </p:spPr>
        <p:txBody>
          <a:bodyPr wrap="square" lIns="0" tIns="0" rIns="0" bIns="0" rtlCol="0" anchor="t"/>
          <a:lstStyle/>
          <a:p>
            <a:pPr marL="342900" indent="-342900">
              <a:spcAft>
                <a:spcPts val="1800"/>
              </a:spcAft>
              <a:buSzPct val="100000"/>
              <a:buChar char="•"/>
            </a:pPr>
            <a:r>
              <a:rPr lang="en-US" sz="1700" dirty="0">
                <a:solidFill>
                  <a:schemeClr val="tx1"/>
                </a:solidFill>
              </a:rPr>
              <a:t>Validate the score on graded datasets (IDRiD, Messidor)</a:t>
            </a:r>
            <a:endParaRPr lang="en-US" sz="1700" dirty="0"/>
          </a:p>
          <a:p>
            <a:pPr marL="342900" indent="-342900">
              <a:spcAft>
                <a:spcPts val="1800"/>
              </a:spcAft>
              <a:buSzPct val="100000"/>
              <a:buChar char="•"/>
            </a:pPr>
            <a:r>
              <a:rPr lang="en-US" sz="1700" dirty="0">
                <a:solidFill>
                  <a:schemeClr val="tx1"/>
                </a:solidFill>
              </a:rPr>
              <a:t>Optic-disc detection and masking before Frangi</a:t>
            </a:r>
            <a:endParaRPr lang="en-US" sz="1700" dirty="0"/>
          </a:p>
          <a:p>
            <a:pPr marL="342900" indent="-342900">
              <a:spcAft>
                <a:spcPts val="1800"/>
              </a:spcAft>
              <a:buSzPct val="100000"/>
              <a:buChar char="•"/>
            </a:pPr>
            <a:r>
              <a:rPr lang="en-US" sz="1700" dirty="0">
                <a:solidFill>
                  <a:schemeClr val="tx1"/>
                </a:solidFill>
              </a:rPr>
              <a:t>Separate exudate detection to stop lesions leaking into the vessel mask</a:t>
            </a:r>
            <a:endParaRPr lang="en-US" sz="1700" dirty="0"/>
          </a:p>
          <a:p>
            <a:pPr marL="342900" indent="-342900">
              <a:spcAft>
                <a:spcPts val="1800"/>
              </a:spcAft>
              <a:buSzPct val="100000"/>
              <a:buChar char="•"/>
            </a:pPr>
            <a:r>
              <a:rPr lang="en-US" sz="1700" dirty="0">
                <a:solidFill>
                  <a:schemeClr val="tx1"/>
                </a:solidFill>
              </a:rPr>
              <a:t>Learn only the 6 fusion weights from graded data, keeping the score explainable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rtlCol="0" anchor="ctr"/>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640080" y="3474720"/>
            <a:ext cx="10881360" cy="731520"/>
          </a:xfrm>
          <a:prstGeom prst="rect">
            <a:avLst/>
          </a:prstGeom>
          <a:noFill/>
          <a:ln/>
        </p:spPr>
        <p:txBody>
          <a:bodyPr wrap="square" rtlCol="0"/>
          <a:lstStyle/>
          <a:p>
            <a:pPr indent="0" marL="0">
              <a:buNone/>
            </a:pPr>
            <a:r>
              <a:rPr lang="en-US" sz="1800" dirty="0">
                <a:solidFill>
                  <a:schemeClr val="accent2"/>
                </a:solidFill>
              </a:rPr>
              <a:t>A training-free, CPU-only pipeline from fundus photograph to explainable DR risk — Dice 0.749 on DRIVE test images</a:t>
            </a:r>
            <a:endParaRPr lang="en-US" sz="1800" dirty="0"/>
          </a:p>
        </p:txBody>
      </p:sp>
      <p:sp>
        <p:nvSpPr>
          <p:cNvPr id="4" name="Text 2"/>
          <p:cNvSpPr txBox="1"/>
          <p:nvPr/>
        </p:nvSpPr>
        <p:spPr>
          <a:xfrm>
            <a:off x="640080" y="4754880"/>
            <a:ext cx="2468880" cy="731520"/>
          </a:xfrm>
          <a:prstGeom prst="rect">
            <a:avLst/>
          </a:prstGeom>
          <a:noFill/>
          <a:ln/>
        </p:spPr>
        <p:txBody>
          <a:bodyPr wrap="square" lIns="0" tIns="0" rIns="0" bIns="0" rtlCol="0" anchor="t"/>
          <a:lstStyle/>
          <a:p>
            <a:pPr indent="0" marL="0">
              <a:buNone/>
            </a:pPr>
            <a:r>
              <a:rPr lang="en-US" sz="1500" b="1" dirty="0">
                <a:solidFill>
                  <a:schemeClr val="bg1"/>
                </a:solidFill>
              </a:rPr>
              <a:t>Mrinali Bhardwaj</a:t>
            </a:r>
            <a:endParaRPr lang="en-US" sz="1500" dirty="0"/>
          </a:p>
          <a:p>
            <a:pPr indent="0" marL="0">
              <a:buNone/>
            </a:pPr>
            <a:r>
              <a:rPr lang="en-US" sz="1500" dirty="0">
                <a:solidFill>
                  <a:schemeClr val="accent4"/>
                </a:solidFill>
              </a:rPr>
              <a:t>23BCE0910</a:t>
            </a:r>
            <a:endParaRPr lang="en-US" sz="1500" dirty="0"/>
          </a:p>
        </p:txBody>
      </p:sp>
      <p:sp>
        <p:nvSpPr>
          <p:cNvPr id="5" name="Text 3"/>
          <p:cNvSpPr txBox="1"/>
          <p:nvPr/>
        </p:nvSpPr>
        <p:spPr>
          <a:xfrm>
            <a:off x="3291840" y="4754880"/>
            <a:ext cx="2468880" cy="731520"/>
          </a:xfrm>
          <a:prstGeom prst="rect">
            <a:avLst/>
          </a:prstGeom>
          <a:noFill/>
          <a:ln/>
        </p:spPr>
        <p:txBody>
          <a:bodyPr wrap="square" lIns="0" tIns="0" rIns="0" bIns="0" rtlCol="0" anchor="t"/>
          <a:lstStyle/>
          <a:p>
            <a:pPr indent="0" marL="0">
              <a:buNone/>
            </a:pPr>
            <a:r>
              <a:rPr lang="en-US" sz="1500" b="1" dirty="0">
                <a:solidFill>
                  <a:schemeClr val="bg1"/>
                </a:solidFill>
              </a:rPr>
              <a:t>S K Krithika</a:t>
            </a:r>
            <a:endParaRPr lang="en-US" sz="1500" dirty="0"/>
          </a:p>
          <a:p>
            <a:pPr indent="0" marL="0">
              <a:buNone/>
            </a:pPr>
            <a:r>
              <a:rPr lang="en-US" sz="1500" dirty="0">
                <a:solidFill>
                  <a:schemeClr val="accent4"/>
                </a:solidFill>
              </a:rPr>
              <a:t>23BCE0908</a:t>
            </a:r>
            <a:endParaRPr lang="en-US" sz="1500" dirty="0"/>
          </a:p>
        </p:txBody>
      </p:sp>
      <p:sp>
        <p:nvSpPr>
          <p:cNvPr id="6" name="Text 4"/>
          <p:cNvSpPr txBox="1"/>
          <p:nvPr/>
        </p:nvSpPr>
        <p:spPr>
          <a:xfrm>
            <a:off x="5943600" y="4754880"/>
            <a:ext cx="2468880" cy="731520"/>
          </a:xfrm>
          <a:prstGeom prst="rect">
            <a:avLst/>
          </a:prstGeom>
          <a:noFill/>
          <a:ln/>
        </p:spPr>
        <p:txBody>
          <a:bodyPr wrap="square" lIns="0" tIns="0" rIns="0" bIns="0" rtlCol="0" anchor="t"/>
          <a:lstStyle/>
          <a:p>
            <a:pPr indent="0" marL="0">
              <a:buNone/>
            </a:pPr>
            <a:r>
              <a:rPr lang="en-US" sz="1500" b="1" dirty="0">
                <a:solidFill>
                  <a:schemeClr val="bg1"/>
                </a:solidFill>
              </a:rPr>
              <a:t>Aviral Chaubey</a:t>
            </a:r>
            <a:endParaRPr lang="en-US" sz="1500" dirty="0"/>
          </a:p>
          <a:p>
            <a:pPr indent="0" marL="0">
              <a:buNone/>
            </a:pPr>
            <a:r>
              <a:rPr lang="en-US" sz="1500" dirty="0">
                <a:solidFill>
                  <a:schemeClr val="accent4"/>
                </a:solidFill>
              </a:rPr>
              <a:t>23BCE0566</a:t>
            </a:r>
            <a:endParaRPr lang="en-US" sz="1500" dirty="0"/>
          </a:p>
        </p:txBody>
      </p:sp>
      <p:pic>
        <p:nvPicPr>
          <p:cNvPr id="7" name="Image 0" descr="preencoded.png">    </p:cNvPr>
          <p:cNvPicPr>
            <a:picLocks noChangeAspect="1"/>
          </p:cNvPicPr>
          <p:nvPr/>
        </p:nvPicPr>
        <p:blipFill>
          <a:blip r:embed="rId1"/>
          <a:stretch>
            <a:fillRect/>
          </a:stretch>
        </p:blipFill>
        <p:spPr>
          <a:xfrm>
            <a:off x="640080" y="5760720"/>
            <a:ext cx="292608" cy="292608"/>
          </a:xfrm>
          <a:prstGeom prst="rect">
            <a:avLst/>
          </a:prstGeom>
        </p:spPr>
      </p:pic>
      <p:sp>
        <p:nvSpPr>
          <p:cNvPr id="8" name="Text 5"/>
          <p:cNvSpPr txBox="1"/>
          <p:nvPr/>
        </p:nvSpPr>
        <p:spPr>
          <a:xfrm>
            <a:off x="1024128" y="5733288"/>
            <a:ext cx="5486400" cy="365760"/>
          </a:xfrm>
          <a:prstGeom prst="rect">
            <a:avLst/>
          </a:prstGeom>
          <a:noFill/>
          <a:ln/>
        </p:spPr>
        <p:txBody>
          <a:bodyPr wrap="square" lIns="0" tIns="0" rIns="0" bIns="0" rtlCol="0" anchor="ctr"/>
          <a:lstStyle/>
          <a:p>
            <a:pPr indent="0" marL="0">
              <a:buNone/>
            </a:pPr>
            <a:r>
              <a:rPr lang="en-US" sz="1400" dirty="0">
                <a:solidFill>
                  <a:schemeClr val="accent2"/>
                </a:solidFill>
              </a:rPr>
              <a:t>github.com/MrinaliBhardwaj/dip_project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undus">
  <a:themeElements>
    <a:clrScheme name="Fundus">
      <a:dk1>
        <a:srgbClr val="1B1B1F"/>
      </a:dk1>
      <a:lt1>
        <a:srgbClr val="FFFFFF"/>
      </a:lt1>
      <a:dk2>
        <a:srgbClr val="14213D"/>
      </a:dk2>
      <a:lt2>
        <a:srgbClr val="EEF2F8"/>
      </a:lt2>
      <a:accent1>
        <a:srgbClr val="E2583E"/>
      </a:accent1>
      <a:accent2>
        <a:srgbClr val="F4A261"/>
      </a:accent2>
      <a:accent3>
        <a:srgbClr val="2A9D8F"/>
      </a:accent3>
      <a:accent4>
        <a:srgbClr val="8D99AE"/>
      </a:accent4>
      <a:accent5>
        <a:srgbClr val="6D597A"/>
      </a:accent5>
      <a:accent6>
        <a:srgbClr val="C9A227"/>
      </a:accent6>
      <a:hlink>
        <a:srgbClr val="1C7293"/>
      </a:hlink>
      <a:folHlink>
        <a:srgbClr val="6D597A"/>
      </a:folHlink>
    </a:clrScheme>
    <a:fontScheme name="Fundu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Multi-Scale Frangi Vessel Segmentation for Explainable DR Risk</dc:title>
  <dc:subject>PptxGenJS Presentation</dc:subject>
  <dc:creator>Mrinali Bhardwaj, S K Krithika, Aviral Chaubey</dc:creator>
  <cp:lastModifiedBy>Mrinali Bhardwaj, S K Krithika, Aviral Chaubey</cp:lastModifiedBy>
  <cp:revision>1</cp:revision>
  <dcterms:created xsi:type="dcterms:W3CDTF">2026-10-05T21:10:56Z</dcterms:created>
  <dcterms:modified xsi:type="dcterms:W3CDTF">2026-10-05T21:10:56Z</dcterms:modified>
</cp:coreProperties>
</file>